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fbe9c652a51457f" /><Relationship Type="http://schemas.openxmlformats.org/officeDocument/2006/relationships/extended-properties" Target="/docProps/app.xml" Id="R1a35018ffb1d45ec" /><Relationship Type="http://schemas.openxmlformats.org/officeDocument/2006/relationships/officeDocument" Target="/ppt/presentation.xml" Id="Rf107d1ddfbea4ef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b126c7748a744f1"/>
  </p:sldMasterIdLst>
  <p:notesMasterIdLst>
    <p:notesMasterId xmlns:r="http://schemas.openxmlformats.org/officeDocument/2006/relationships" r:id="Rc0ec0d185ba04e25"/>
  </p:notesMasterIdLst>
  <p:sldIdLst>
    <p:sldId xmlns:r="http://schemas.openxmlformats.org/officeDocument/2006/relationships" id="256" r:id="R75a0f9bf5cbf43b0"/>
    <p:sldId xmlns:r="http://schemas.openxmlformats.org/officeDocument/2006/relationships" id="257" r:id="R26672bc03aeb427c"/>
    <p:sldId xmlns:r="http://schemas.openxmlformats.org/officeDocument/2006/relationships" id="258" r:id="R01ae7b9b8173457e"/>
    <p:sldId xmlns:r="http://schemas.openxmlformats.org/officeDocument/2006/relationships" id="259" r:id="R70089bd2d478406f"/>
    <p:sldId xmlns:r="http://schemas.openxmlformats.org/officeDocument/2006/relationships" id="260" r:id="R440456ab6a804247"/>
    <p:sldId xmlns:r="http://schemas.openxmlformats.org/officeDocument/2006/relationships" id="261" r:id="Rac9c986757a845ba"/>
    <p:sldId xmlns:r="http://schemas.openxmlformats.org/officeDocument/2006/relationships" id="262" r:id="R81426a17e9944842"/>
    <p:sldId xmlns:r="http://schemas.openxmlformats.org/officeDocument/2006/relationships" id="263" r:id="R0c25f4fe3a1c4c7d"/>
    <p:sldId xmlns:r="http://schemas.openxmlformats.org/officeDocument/2006/relationships" id="264" r:id="Rfa3d130ce3e04bc9"/>
    <p:sldId xmlns:r="http://schemas.openxmlformats.org/officeDocument/2006/relationships" id="265" r:id="R8dacd0821cfe4001"/>
    <p:sldId xmlns:r="http://schemas.openxmlformats.org/officeDocument/2006/relationships" id="266" r:id="R7c5504a203004f4f"/>
    <p:sldId xmlns:r="http://schemas.openxmlformats.org/officeDocument/2006/relationships" id="267" r:id="Rf0bed0128af048d8"/>
    <p:sldId xmlns:r="http://schemas.openxmlformats.org/officeDocument/2006/relationships" id="268" r:id="Redf5e70c84f24f76"/>
    <p:sldId xmlns:r="http://schemas.openxmlformats.org/officeDocument/2006/relationships" id="269" r:id="R25613785310f4375"/>
    <p:sldId xmlns:r="http://schemas.openxmlformats.org/officeDocument/2006/relationships" id="270" r:id="R8565124272824ee0"/>
    <p:sldId xmlns:r="http://schemas.openxmlformats.org/officeDocument/2006/relationships" id="271" r:id="Rb25332abcaae4ee2"/>
    <p:sldId xmlns:r="http://schemas.openxmlformats.org/officeDocument/2006/relationships" id="272" r:id="Rbb498b118df34bd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0d8b7e424f64a3f" /><Relationship Type="http://schemas.openxmlformats.org/officeDocument/2006/relationships/slideMaster" Target="/ppt/slideMasters/slideMaster1.xml" Id="R6b126c7748a744f1" /><Relationship Type="http://schemas.openxmlformats.org/officeDocument/2006/relationships/notesMaster" Target="/ppt/notesMasters/notesMaster1.xml" Id="Rc0ec0d185ba04e25" /><Relationship Type="http://schemas.openxmlformats.org/officeDocument/2006/relationships/presProps" Target="/ppt/presProps.xml" Id="R728926174d834b51" /><Relationship Type="http://schemas.openxmlformats.org/officeDocument/2006/relationships/tableStyles" Target="/ppt/tableStyles.xml" Id="R15fcc555e78945b0" /><Relationship Type="http://schemas.openxmlformats.org/officeDocument/2006/relationships/slide" Target="/ppt/slides/slide1.xml" Id="R75a0f9bf5cbf43b0" /><Relationship Type="http://schemas.openxmlformats.org/officeDocument/2006/relationships/slide" Target="/ppt/slides/slide2.xml" Id="R26672bc03aeb427c" /><Relationship Type="http://schemas.openxmlformats.org/officeDocument/2006/relationships/slide" Target="/ppt/slides/slide3.xml" Id="R01ae7b9b8173457e" /><Relationship Type="http://schemas.openxmlformats.org/officeDocument/2006/relationships/slide" Target="/ppt/slides/slide4.xml" Id="R70089bd2d478406f" /><Relationship Type="http://schemas.openxmlformats.org/officeDocument/2006/relationships/slide" Target="/ppt/slides/slide5.xml" Id="R440456ab6a804247" /><Relationship Type="http://schemas.openxmlformats.org/officeDocument/2006/relationships/slide" Target="/ppt/slides/slide6.xml" Id="Rac9c986757a845ba" /><Relationship Type="http://schemas.openxmlformats.org/officeDocument/2006/relationships/slide" Target="/ppt/slides/slide7.xml" Id="R81426a17e9944842" /><Relationship Type="http://schemas.openxmlformats.org/officeDocument/2006/relationships/slide" Target="/ppt/slides/slide8.xml" Id="R0c25f4fe3a1c4c7d" /><Relationship Type="http://schemas.openxmlformats.org/officeDocument/2006/relationships/slide" Target="/ppt/slides/slide9.xml" Id="Rfa3d130ce3e04bc9" /><Relationship Type="http://schemas.openxmlformats.org/officeDocument/2006/relationships/slide" Target="/ppt/slides/slide10.xml" Id="R8dacd0821cfe4001" /><Relationship Type="http://schemas.openxmlformats.org/officeDocument/2006/relationships/slide" Target="/ppt/slides/slide11.xml" Id="R7c5504a203004f4f" /><Relationship Type="http://schemas.openxmlformats.org/officeDocument/2006/relationships/slide" Target="/ppt/slides/slide12.xml" Id="Rf0bed0128af048d8" /><Relationship Type="http://schemas.openxmlformats.org/officeDocument/2006/relationships/slide" Target="/ppt/slides/slide13.xml" Id="Redf5e70c84f24f76" /><Relationship Type="http://schemas.openxmlformats.org/officeDocument/2006/relationships/slide" Target="/ppt/slides/slide14.xml" Id="R25613785310f4375" /><Relationship Type="http://schemas.openxmlformats.org/officeDocument/2006/relationships/slide" Target="/ppt/slides/slide15.xml" Id="R8565124272824ee0" /><Relationship Type="http://schemas.openxmlformats.org/officeDocument/2006/relationships/slide" Target="/ppt/slides/slide16.xml" Id="Rb25332abcaae4ee2" /><Relationship Type="http://schemas.openxmlformats.org/officeDocument/2006/relationships/slide" Target="/ppt/slides/slide17.xml" Id="Rbb498b118df34bd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35d85a0700c40d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615c0aedd434dc0" /><Relationship Type="http://schemas.openxmlformats.org/officeDocument/2006/relationships/notesMaster" Target="/ppt/notesMasters/notesMaster1.xml" Id="Rcaabe5efcceb48d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51a79d75cf64d45" /><Relationship Type="http://schemas.openxmlformats.org/officeDocument/2006/relationships/notesMaster" Target="/ppt/notesMasters/notesMaster1.xml" Id="Rb1eee48b08fe477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b4b94a57a0d46a4" /><Relationship Type="http://schemas.openxmlformats.org/officeDocument/2006/relationships/notesMaster" Target="/ppt/notesMasters/notesMaster1.xml" Id="R68591d3852f54d1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1ce744a7a69494f" /><Relationship Type="http://schemas.openxmlformats.org/officeDocument/2006/relationships/notesMaster" Target="/ppt/notesMasters/notesMaster1.xml" Id="Rcae0758c461a435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2436141c06f4c08" /><Relationship Type="http://schemas.openxmlformats.org/officeDocument/2006/relationships/notesMaster" Target="/ppt/notesMasters/notesMaster1.xml" Id="R1578450f3af74d3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51ce4b70c864327" /><Relationship Type="http://schemas.openxmlformats.org/officeDocument/2006/relationships/notesMaster" Target="/ppt/notesMasters/notesMaster1.xml" Id="Rd9d575cff1fa486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c401f7251a04f36" /><Relationship Type="http://schemas.openxmlformats.org/officeDocument/2006/relationships/notesMaster" Target="/ppt/notesMasters/notesMaster1.xml" Id="Rae8b7b310bba4dc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5e3a8b381bf4c93" /><Relationship Type="http://schemas.openxmlformats.org/officeDocument/2006/relationships/notesMaster" Target="/ppt/notesMasters/notesMaster1.xml" Id="R207bdbd2e327424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e82302c9f3e4339" /><Relationship Type="http://schemas.openxmlformats.org/officeDocument/2006/relationships/notesMaster" Target="/ppt/notesMasters/notesMaster1.xml" Id="R34e5eef40840439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3801f79defc423f" /><Relationship Type="http://schemas.openxmlformats.org/officeDocument/2006/relationships/notesMaster" Target="/ppt/notesMasters/notesMaster1.xml" Id="Raf18bec66864409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44325561f1a4568" /><Relationship Type="http://schemas.openxmlformats.org/officeDocument/2006/relationships/notesMaster" Target="/ppt/notesMasters/notesMaster1.xml" Id="Ra7b1bdb9a30c473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a7345620d4a42a0" /><Relationship Type="http://schemas.openxmlformats.org/officeDocument/2006/relationships/notesMaster" Target="/ppt/notesMasters/notesMaster1.xml" Id="R298b12b8fb71491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03dab0f1b3645f6" /><Relationship Type="http://schemas.openxmlformats.org/officeDocument/2006/relationships/notesMaster" Target="/ppt/notesMasters/notesMaster1.xml" Id="Rb0f2c777858f448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0e8748743d349e3" /><Relationship Type="http://schemas.openxmlformats.org/officeDocument/2006/relationships/notesMaster" Target="/ppt/notesMasters/notesMaster1.xml" Id="R042fd5edcfcb4d8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60c43ce0fb6492b" /><Relationship Type="http://schemas.openxmlformats.org/officeDocument/2006/relationships/notesMaster" Target="/ppt/notesMasters/notesMaster1.xml" Id="R7d03de563da344d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789abc5e36d4714" /><Relationship Type="http://schemas.openxmlformats.org/officeDocument/2006/relationships/notesMaster" Target="/ppt/notesMasters/notesMaster1.xml" Id="Rd260b898fee140c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1acadb367244e83" /><Relationship Type="http://schemas.openxmlformats.org/officeDocument/2006/relationships/notesMaster" Target="/ppt/notesMasters/notesMaster1.xml" Id="Re31d0e553a7445b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README.md §1 Vision; docs/01-PRD.md §1 Product overview; artifacts/presentations/linear.DESIGN.md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docs/01-PRD.md §1.3; docs/01-PRD.md §8; README.md §1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docs/01-PRD.md §2 Target users; docs/01-PRD.md §4 Commercial goals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README.md §2 Product Matrix; docs/04-MODULES.md Module overview; docs/03-ARCHITECTURE.md §1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docs/02-FEATURES.md §1.2 Channels; docs/14-MULTIMODAL.md; README.md §2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docs/09-AGENT-ENGINE.md; docs/04-MODULES.md §1.6 LLM; README.md §4.2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docs/09-AGENT-ENGINE.md; docs/10-AGENT-MEMORY.md; docs/11-RAG-KNOWLEDGE.md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docs/11-RAG-KNOWLEDGE.md; docs/KB-DOCUMENT-PARSERS.md; packages/kb/config/kb-freshness.yaml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docs/11-RAG-KNOWLEDGE.md; docs/11-RAG-OPTIMIZATION.md; docs/12-STORAGE-ABSTRACTION.md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docs/10-AGENT-MEMORY.md; docs/15-MEMORY-TREE.md; packages/memory/src/layers.ts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docs/10-AGENT-MEMORY.md; docs/15-MEMORY-TREE.md; packages/memory/src/processors/pipeline.ts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docs/13-WORKFLOW.md; docs/02-FEATURES.md §1.5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docs/13-WORKFLOW.md §4.1 Block overview; docs/02-FEATURES.md §1.5 Action Blocks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docs/13-WORKFLOW.md §4 Action Block; docs/01-PRD.md §3 Scenario B; docs/02-FEATURES.md §1.5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docs/04-MODULES.md AI Kernel; docs/09-AGENT-ENGINE.md; docs/10-AGENT-MEMORY.md; docs/11-RAG-KNOWLEDGE.md; docs/13-WORKFLOW.md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README.md §3 Tech Stack; docs/03-ARCHITECTURE.md; docs/06-TECH-STACK.md; docs/12-STORAGE-ABSTRACTION.md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docs/01-PRD.md §4 Commercial goals; docs/08-ROADMAP.md; README.md §7 Roadmap 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f0cc371a2a496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0fc47d4d02e4b6a" /><Relationship Type="http://schemas.openxmlformats.org/officeDocument/2006/relationships/slideLayout" Target="/ppt/slideLayouts/slideLayout1.xml" Id="Rc56fcdd8e82546e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56fcdd8e82546e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7be6520a3c41fb" /><Relationship Type="http://schemas.openxmlformats.org/officeDocument/2006/relationships/notesSlide" Target="/ppt/notesSlides/notesSlide1.xml" Id="R8fa77498ca1f4ff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a7118f8e324018" /><Relationship Type="http://schemas.openxmlformats.org/officeDocument/2006/relationships/notesSlide" Target="/ppt/notesSlides/notesSlide2.xml" Id="R4e68e94eb42d4dd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7262bfe9944033" /><Relationship Type="http://schemas.openxmlformats.org/officeDocument/2006/relationships/notesSlide" Target="/ppt/notesSlides/notesSlide3.xml" Id="R508e3bd6c581422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4e9a23ff024cf6" /><Relationship Type="http://schemas.openxmlformats.org/officeDocument/2006/relationships/notesSlide" Target="/ppt/notesSlides/notesSlide4.xml" Id="R2198b8f9497d431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f4bb0652854b5a" /><Relationship Type="http://schemas.openxmlformats.org/officeDocument/2006/relationships/notesSlide" Target="/ppt/notesSlides/notesSlide5.xml" Id="R7ff9c7b25321495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bae7df257c494b" /><Relationship Type="http://schemas.openxmlformats.org/officeDocument/2006/relationships/notesSlide" Target="/ppt/notesSlides/notesSlide6.xml" Id="Rc0a4794fad0e42c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db2947e22b4f8c" /><Relationship Type="http://schemas.openxmlformats.org/officeDocument/2006/relationships/notesSlide" Target="/ppt/notesSlides/notesSlide7.xml" Id="Rb2c56b0dceea436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7ba279f6394e4c" /><Relationship Type="http://schemas.openxmlformats.org/officeDocument/2006/relationships/notesSlide" Target="/ppt/notesSlides/notesSlide8.xml" Id="R60137b693b8547e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1da71dae714889" /><Relationship Type="http://schemas.openxmlformats.org/officeDocument/2006/relationships/notesSlide" Target="/ppt/notesSlides/notesSlide9.xml" Id="R799470e82da04ca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c8427e91c14220" /><Relationship Type="http://schemas.openxmlformats.org/officeDocument/2006/relationships/notesSlide" Target="/ppt/notesSlides/notesSlide10.xml" Id="Rcd7b51b48cb44f2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eaec1e50fa46c0" /><Relationship Type="http://schemas.openxmlformats.org/officeDocument/2006/relationships/notesSlide" Target="/ppt/notesSlides/notesSlide11.xml" Id="R170919de5a5b45c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e358c5c0894735" /><Relationship Type="http://schemas.openxmlformats.org/officeDocument/2006/relationships/notesSlide" Target="/ppt/notesSlides/notesSlide12.xml" Id="Ra1c44d1dfcfd47e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252aed5d3f462c" /><Relationship Type="http://schemas.openxmlformats.org/officeDocument/2006/relationships/notesSlide" Target="/ppt/notesSlides/notesSlide13.xml" Id="R2846551a4a5f473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0608f29a4841ed" /><Relationship Type="http://schemas.openxmlformats.org/officeDocument/2006/relationships/notesSlide" Target="/ppt/notesSlides/notesSlide14.xml" Id="R3128d929a326496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4e606dba314eec" /><Relationship Type="http://schemas.openxmlformats.org/officeDocument/2006/relationships/notesSlide" Target="/ppt/notesSlides/notesSlide15.xml" Id="R06e2fddb9b8f49d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24ec9ec8034144" /><Relationship Type="http://schemas.openxmlformats.org/officeDocument/2006/relationships/notesSlide" Target="/ppt/notesSlides/notesSlide16.xml" Id="Rf88cf73adc0d4ec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857304bdff490c" /><Relationship Type="http://schemas.openxmlformats.org/officeDocument/2006/relationships/notesSlide" Target="/ppt/notesSlides/notesSlide17.xml" Id="R1b048f389348431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1010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5E332E-150D-48E4-97C0-C5A64DC54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80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KeenAI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E8677E-416A-40DC-9667-6F304CCC8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143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05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AI-native support operating system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B9D810-321F-4EAC-ABB8-3640CCF35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38350"/>
            <a:ext cx="98107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104"/>
          </a:bodyPr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420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开源、AI 原生、可私有化部署的客户支持与产品反馈平台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70B105-2FD8-4539-929D-B992DADA4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43350"/>
            <a:ext cx="876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defRPr>
            </a:pPr>
            <a:r>
              <a:rPr sz="165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rPr>
              <a:t>统一多端入口、知识库、Keeni AI Agent、Memory、Workflow、工单和反馈闭环。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BCB6E3-B994-4938-9024-04F2771A7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334000"/>
            <a:ext cx="26479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5E6AD2"/>
          </a:solidFill>
          <a:ln xmlns:a="http://schemas.openxmlformats.org/drawingml/2006/main" w="9525">
            <a:solidFill>
              <a:srgbClr val="5E6AD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54469D-4126-4E53-B12D-33A706797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45782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458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1">
                <a:solidFill>
                  <a:srgbClr val="FFFFFF"/>
                </a:solidFill>
                <a:latin typeface="SF Pro Display"/>
                <a:ea typeface="SF Pro Display"/>
                <a:cs typeface="SF Pro Display"/>
              </a:rPr>
              <a:t>Business Plan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91459F-5645-460C-8830-394E20CEC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2865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111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2666D"/>
                </a:solidFill>
                <a:latin typeface="SF Pro Display"/>
                <a:ea typeface="SF Pro Display"/>
                <a:cs typeface="SF Pro Display"/>
              </a:defRPr>
            </a:pPr>
            <a:r>
              <a:rPr sz="900" b="0">
                <a:solidFill>
                  <a:srgbClr val="62666D"/>
                </a:solidFill>
                <a:latin typeface="SF Pro Display"/>
                <a:ea typeface="SF Pro Display"/>
                <a:cs typeface="SF Pro Display"/>
              </a:rPr>
              <a:t>Linear style via getdesign.md</a:t>
            </a:r>
          </a:p>
        </p:txBody>
      </p:sp>
    </p:spTree>
    <p:extLst>
      <p:ext uri="{BB962C8B-B14F-4D97-AF65-F5344CB8AC3E}">
        <p14:creationId xmlns:p14="http://schemas.microsoft.com/office/powerpoint/2010/main" val="116925631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1010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C79D5C-A590-47D6-8171-D46B58CA3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3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KeenAI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A9DA43-0734-44A8-8050-CFC1BD1AD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952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97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Problem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FE04B7-EA53-433D-B2BD-47C40B9A0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29527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2666D"/>
                </a:solidFill>
                <a:latin typeface="SF Pro Display"/>
                <a:ea typeface="SF Pro Display"/>
                <a:cs typeface="SF Pro Display"/>
              </a:defRPr>
            </a:pPr>
            <a:r>
              <a:rPr sz="975" b="0">
                <a:solidFill>
                  <a:srgbClr val="62666D"/>
                </a:solidFill>
                <a:latin typeface="SF Pro Display"/>
                <a:ea typeface="SF Pro Display"/>
                <a:cs typeface="SF Pro Display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9E033F-DDA0-4B6C-90E7-FDD9BF8E1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252A"/>
          </a:solidFill>
          <a:ln xmlns:a="http://schemas.openxmlformats.org/drawingml/2006/main" w="0">
            <a:solidFill>
              <a:srgbClr val="23252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9A925F-DE9D-4EA8-9323-FE99BEFFB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9906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31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真实痛点不是缺聊天窗口，而是客服、知识和反馈无法闭环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E36F4B-3E1E-4AEF-BF3D-6C627D06F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33600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50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企业在客户支持上同时承受成本、数据控制、流程一致性和 AI 落地压力。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314022-F272-44DD-A5C9-1688A7013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2476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141516"/>
          </a:solidFill>
          <a:ln xmlns:a="http://schemas.openxmlformats.org/drawingml/2006/main" w="9525">
            <a:solidFill>
              <a:srgbClr val="5E6AD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A54A09-5CF7-4713-928C-D92A1C141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285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6AD2"/>
          </a:solidFill>
          <a:ln xmlns:a="http://schemas.openxmlformats.org/drawingml/2006/main" w="0">
            <a:solidFill>
              <a:srgbClr val="5E6AD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3B8059-9778-45E5-81B8-A7F037B01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3375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成本持续上升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AE5526-7F82-4803-A772-EE2A1DCCA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71900"/>
            <a:ext cx="2057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rPr>
              <a:t>Intercom / Zendesk / AI resolution / seat 叠加收费，中小团队在规模化前就承担企业级成本。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4D8B1D-2513-455B-9D73-9E4FCF359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143250"/>
            <a:ext cx="2476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0F1011"/>
          </a:solidFill>
          <a:ln xmlns:a="http://schemas.openxmlformats.org/drawingml/2006/main" w="9525">
            <a:solidFill>
              <a:srgbClr val="23252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A41557-DD0F-4E0B-A0A0-1E70F0DA4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33375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数据与 AI 不可控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85FB6B-BDB7-4D5A-832D-B1F2DBD94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771900"/>
            <a:ext cx="2057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rPr>
              <a:t>客户对话、工单、知识和反馈沉在第三方平台；模型黑盒，私有化与合规困难。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6214E7-2F05-4618-8BB9-27D4A44AC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143250"/>
            <a:ext cx="2476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0F1011"/>
          </a:solidFill>
          <a:ln xmlns:a="http://schemas.openxmlformats.org/drawingml/2006/main" w="9525">
            <a:solidFill>
              <a:srgbClr val="23252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D3F004-A30B-4967-9D7F-6E183AFF3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33375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多端入口割裂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BA7836-3C42-4951-939E-F4784795A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71900"/>
            <a:ext cx="2057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rPr>
              <a:t>Email、Widget、Discord、Slack、API 进入不同系统，人工搬运上下文。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28015A-7A93-4717-B771-6B1052316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143250"/>
            <a:ext cx="2476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0F1011"/>
          </a:solidFill>
          <a:ln xmlns:a="http://schemas.openxmlformats.org/drawingml/2006/main" w="9525">
            <a:solidFill>
              <a:srgbClr val="23252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2BAB7A-29C3-4B9F-A03A-A171C5844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33375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流程依赖经验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4E45DA-A61A-43F2-AD4E-D4ED21465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771900"/>
            <a:ext cx="2057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rPr>
              <a:t>高价值客户优先级、SLA、Bug 分流、需求归并和客服交接难以标准化。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4E5710-958B-4786-A89A-0F864BEEB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80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KeenAI 的切入点：把入口、知识、AI 判断和自动化动作放进企业自己可控的系统。</a:t>
            </a:r>
          </a:p>
        </p:txBody>
      </p:sp>
    </p:spTree>
    <p:extLst>
      <p:ext uri="{BB962C8B-B14F-4D97-AF65-F5344CB8AC3E}">
        <p14:creationId xmlns:p14="http://schemas.microsoft.com/office/powerpoint/2010/main" val="46828429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1010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57FF1B-6700-4AE9-946E-6E2ACF526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3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KeenAI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85817F-E941-4BC9-8B6A-CAA1FC55E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952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97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Customers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27F7A4-FDD3-432C-AD40-8155E2CAA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29527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2666D"/>
                </a:solidFill>
                <a:latin typeface="SF Pro Display"/>
                <a:ea typeface="SF Pro Display"/>
                <a:cs typeface="SF Pro Display"/>
              </a:defRPr>
            </a:pPr>
            <a:r>
              <a:rPr sz="975" b="0">
                <a:solidFill>
                  <a:srgbClr val="62666D"/>
                </a:solidFill>
                <a:latin typeface="SF Pro Display"/>
                <a:ea typeface="SF Pro Display"/>
                <a:cs typeface="SF Pro Display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DDDA8E-B1D5-4F6A-8AEB-2E119D50B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252A"/>
          </a:solidFill>
          <a:ln xmlns:a="http://schemas.openxmlformats.org/drawingml/2006/main" w="0">
            <a:solidFill>
              <a:srgbClr val="23252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3C0915-79E8-4137-B664-D04E91912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9906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31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目标客户是需要低成本、可控 AI 和私有化的团队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5A5928-C6E2-40DB-944A-E690114C9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33600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50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三类客户共享同一个需求：把支持和反馈数据沉淀在自己的系统里。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5C6E53-7B5A-472F-BD1F-83FB3C1EF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3238500" cy="25908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141516"/>
          </a:solidFill>
          <a:ln xmlns:a="http://schemas.openxmlformats.org/drawingml/2006/main" w="9525">
            <a:solidFill>
              <a:srgbClr val="5E6AD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6C6A69-527F-4BC3-BE98-0BAE7ED91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28575" cy="259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6AD2"/>
          </a:solidFill>
          <a:ln xmlns:a="http://schemas.openxmlformats.org/drawingml/2006/main" w="0">
            <a:solidFill>
              <a:srgbClr val="5E6AD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42835B-F094-476D-93D2-FB6C497E9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432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SaaS 创业团队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4A8F92-D19F-4B9B-8B4A-2CAE0E2CE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81400"/>
            <a:ext cx="28194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rPr>
              <a:t>5-50 人，月活 1k-100k。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rPr>
              <a:t>痛点：Intercom 成本高，Zendesk 太重，反馈闭环弱。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rPr>
              <a:t>购买动机：AI 首响、低成本客服、反馈和路线图一体化。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CC4627-69BA-4A3E-B280-4429E0228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952750"/>
            <a:ext cx="3238500" cy="25908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0F1011"/>
          </a:solidFill>
          <a:ln xmlns:a="http://schemas.openxmlformats.org/drawingml/2006/main" w="9525">
            <a:solidFill>
              <a:srgbClr val="23252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6B1370-7D88-4B0F-A67B-F71316CC3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1432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独立开发者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B65E42-A97B-4FA9-A305-A2FCEF140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581400"/>
            <a:ext cx="28194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rPr>
              <a:t>1-5 人维护多个产品。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rPr>
              <a:t>痛点：没有专职客服，重复问题消耗开发时间。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rPr>
              <a:t>购买动机：一键部署、AI 7x24 回复、用户反馈沉淀。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F3CE2B-637C-430E-9633-D0049E787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952750"/>
            <a:ext cx="3238500" cy="25908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0F1011"/>
          </a:solidFill>
          <a:ln xmlns:a="http://schemas.openxmlformats.org/drawingml/2006/main" w="9525">
            <a:solidFill>
              <a:srgbClr val="23252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8FFBA8-1FD2-4EDA-B35C-0D02BEA09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1432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企业内部 IT / DevTool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FDA5AA-4401-40FF-99FE-CE2F83647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581400"/>
            <a:ext cx="28194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rPr>
              <a:t>100-10000 员工。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rPr>
              <a:t>痛点：数据不能出内网，内部服务台响应慢。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rPr>
              <a:t>购买动机：私有化、SSO、审计、本地模型、流程自动化。</a:t>
            </a:r>
          </a:p>
        </p:txBody>
      </p:sp>
    </p:spTree>
    <p:extLst>
      <p:ext uri="{BB962C8B-B14F-4D97-AF65-F5344CB8AC3E}">
        <p14:creationId xmlns:p14="http://schemas.microsoft.com/office/powerpoint/2010/main" val="191383586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1010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6C2D06-5F1E-4AEA-B49A-5D36B2EC2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3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KeenAI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2EF689-EAA8-4627-91CE-14071EBD5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952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97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Platform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5F861A-BC65-4531-BB56-084C3B295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29527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2666D"/>
                </a:solidFill>
                <a:latin typeface="SF Pro Display"/>
                <a:ea typeface="SF Pro Display"/>
                <a:cs typeface="SF Pro Display"/>
              </a:defRPr>
            </a:pPr>
            <a:r>
              <a:rPr sz="975" b="0">
                <a:solidFill>
                  <a:srgbClr val="62666D"/>
                </a:solidFill>
                <a:latin typeface="SF Pro Display"/>
                <a:ea typeface="SF Pro Display"/>
                <a:cs typeface="SF Pro Display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A2BECE-E227-45EE-BDE5-85205B2FD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252A"/>
          </a:solidFill>
          <a:ln xmlns:a="http://schemas.openxmlformats.org/drawingml/2006/main" w="0">
            <a:solidFill>
              <a:srgbClr val="23252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1EE2F2-473B-4C6D-A7A2-77C894FC6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9906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31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KeenAI 是客户支持与产品反馈的 AI 操作系统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5CE7D8-7749-42BC-B748-EE5270773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33600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50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从客户入口到知识检索、Agent 执行、Workflow 编排和产品反馈沉淀，形成同一条链路。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1E6018-369A-4247-8BD5-F98C5E922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22479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0F1011"/>
          </a:solidFill>
          <a:ln xmlns:a="http://schemas.openxmlformats.org/drawingml/2006/main" w="9525">
            <a:solidFill>
              <a:srgbClr val="23252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2AF921-80C1-40DA-962C-E53049618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766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28FFF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1">
                <a:solidFill>
                  <a:srgbClr val="828FFF"/>
                </a:solidFill>
                <a:latin typeface="SF Pro Display"/>
                <a:ea typeface="SF Pro Display"/>
                <a:cs typeface="SF Pro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9AFBFF-EE39-4456-BED2-684C9B0FE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67075"/>
            <a:ext cx="1447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494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575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Multi-channel intake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D3FC86-1F1D-4674-B2C9-D629A3C11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657600"/>
            <a:ext cx="1447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183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12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Widget、Email、Discord、Slack、Telegram、API / Webhook 统一进入 Inbox。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A8021E-434C-477B-A7B3-658103B03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676650"/>
            <a:ext cx="7620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E6AD2"/>
          </a:solidFill>
          <a:ln xmlns:a="http://schemas.openxmlformats.org/drawingml/2006/main" w="0">
            <a:solidFill>
              <a:srgbClr val="5E6AD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C2BE54-10BA-4D23-8051-374477AF8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124200"/>
            <a:ext cx="22479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0F1011"/>
          </a:solidFill>
          <a:ln xmlns:a="http://schemas.openxmlformats.org/drawingml/2006/main" w="9525">
            <a:solidFill>
              <a:srgbClr val="23252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64B4C7-3EB6-4031-AE05-0A1315104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2766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28FFF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1">
                <a:solidFill>
                  <a:srgbClr val="828FFF"/>
                </a:solidFill>
                <a:latin typeface="SF Pro Display"/>
                <a:ea typeface="SF Pro Display"/>
                <a:cs typeface="SF Pro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B07A15-3835-446D-A1FF-902214C3A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267075"/>
            <a:ext cx="1447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575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Context layer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28E3FC-D388-4F92-B343-56E6804D8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657600"/>
            <a:ext cx="1447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263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12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客户、组织、会话、工单、历史反馈、权限和 SLA 组合成实时上下文。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1978C2-AFE1-43F8-8248-CA548346D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676650"/>
            <a:ext cx="7620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E6AD2"/>
          </a:solidFill>
          <a:ln xmlns:a="http://schemas.openxmlformats.org/drawingml/2006/main" w="0">
            <a:solidFill>
              <a:srgbClr val="5E6AD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2A69F9-38A4-4269-8DA7-7518617C8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24200"/>
            <a:ext cx="22479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0F1011"/>
          </a:solidFill>
          <a:ln xmlns:a="http://schemas.openxmlformats.org/drawingml/2006/main" w="9525">
            <a:solidFill>
              <a:srgbClr val="23252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2BE103-502C-4DC2-8CCD-FCE314DDD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2766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28FFF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1">
                <a:solidFill>
                  <a:srgbClr val="828FFF"/>
                </a:solidFill>
                <a:latin typeface="SF Pro Display"/>
                <a:ea typeface="SF Pro Display"/>
                <a:cs typeface="SF Pro Display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A2D28B-1E90-4015-9ED9-F9191CA67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267075"/>
            <a:ext cx="1447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575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AI Kernel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FD3F3E-61E2-4875-9E76-DD27D1BA4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657600"/>
            <a:ext cx="1447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263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12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Keeni AI Agent + RAG + Memory 判断问题、检索事实、生成或执行动作。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D2AFB1-1EC7-4D58-A343-C5D31A3EA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676650"/>
            <a:ext cx="5715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E6AD2"/>
          </a:solidFill>
          <a:ln xmlns:a="http://schemas.openxmlformats.org/drawingml/2006/main" w="0">
            <a:solidFill>
              <a:srgbClr val="5E6AD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157B75-FF4E-4AFE-88DE-E4D8FA255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124200"/>
            <a:ext cx="1428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0F1011"/>
          </a:solidFill>
          <a:ln xmlns:a="http://schemas.openxmlformats.org/drawingml/2006/main" w="9525">
            <a:solidFill>
              <a:srgbClr val="23252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1D147A-809A-4FDF-9249-F229E6EE5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32766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28FFF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1">
                <a:solidFill>
                  <a:srgbClr val="828FFF"/>
                </a:solidFill>
                <a:latin typeface="SF Pro Display"/>
                <a:ea typeface="SF Pro Display"/>
                <a:cs typeface="SF Pro Display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5A4BDD7-05D0-43E1-9295-79B6F3F80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3267075"/>
            <a:ext cx="628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4444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575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Business loop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B41F19A-ED42-4B2C-880E-3971E3748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3657600"/>
            <a:ext cx="6286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5873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12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Ticket、Feedback、Roadmap、Changelog、Help Center 形成产品与服务闭环。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20513CE-5492-499C-BEDD-0115B600B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875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不是单点客服机器人，而是把支持运营流程产品化。</a:t>
            </a:r>
          </a:p>
        </p:txBody>
      </p:sp>
    </p:spTree>
    <p:extLst>
      <p:ext uri="{BB962C8B-B14F-4D97-AF65-F5344CB8AC3E}">
        <p14:creationId xmlns:p14="http://schemas.microsoft.com/office/powerpoint/2010/main" val="159304100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1010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B1097D3-8ADA-4C37-A686-9C367EFD6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3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KeenAI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1CAA33-5A45-4BDF-A57D-9E9A3679C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952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97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Channels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7B13BC-ACAC-4F58-892F-7E836761C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29527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2666D"/>
                </a:solidFill>
                <a:latin typeface="SF Pro Display"/>
                <a:ea typeface="SF Pro Display"/>
                <a:cs typeface="SF Pro Display"/>
              </a:defRPr>
            </a:pPr>
            <a:r>
              <a:rPr sz="975" b="0">
                <a:solidFill>
                  <a:srgbClr val="62666D"/>
                </a:solidFill>
                <a:latin typeface="SF Pro Display"/>
                <a:ea typeface="SF Pro Display"/>
                <a:cs typeface="SF Pro Display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B9DF96-2603-4682-8419-EAF8E751C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252A"/>
          </a:solidFill>
          <a:ln xmlns:a="http://schemas.openxmlformats.org/drawingml/2006/main" w="0">
            <a:solidFill>
              <a:srgbClr val="23252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60BC8D-D0C1-429F-A0E2-A522BA99B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9906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31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多端接入让客户在哪里提问，企业就在哪里响应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036EDD-A66D-4AA9-BC34-5C79210BE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33600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50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所有入口统一进入同一套客户上下文、AI 判断、知识库检索、Workflow 分派和数据分析。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023D63-678A-481B-BCA2-A2ED5CBD9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1962150" cy="2095500"/>
          </a:xfrm>
          <a:prstGeom xmlns:a="http://schemas.openxmlformats.org/drawingml/2006/main" prst="roundRect">
            <a:avLst>
              <a:gd name="adj" fmla="val 3883"/>
            </a:avLst>
          </a:prstGeom>
          <a:solidFill xmlns:a="http://schemas.openxmlformats.org/drawingml/2006/main">
            <a:srgbClr val="141516"/>
          </a:solidFill>
          <a:ln xmlns:a="http://schemas.openxmlformats.org/drawingml/2006/main" w="9525">
            <a:solidFill>
              <a:srgbClr val="5E6AD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10CA7C-A019-402A-870F-5CBEA56BC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28575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6AD2"/>
          </a:solidFill>
          <a:ln xmlns:a="http://schemas.openxmlformats.org/drawingml/2006/main" w="0">
            <a:solidFill>
              <a:srgbClr val="5E6AD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7F1417-7830-4CD4-93AB-29497B065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95650"/>
            <a:ext cx="1543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63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Messenger Widget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AAEFE0-DEDA-4D23-AA0A-E908ED626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33800"/>
            <a:ext cx="154305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rPr>
              <a:t>嵌入官网和产品内，承接访客、登录用户和自助服务入口。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9EA251-AA71-4738-A132-9FCE22331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105150"/>
            <a:ext cx="1962150" cy="2095500"/>
          </a:xfrm>
          <a:prstGeom xmlns:a="http://schemas.openxmlformats.org/drawingml/2006/main" prst="roundRect">
            <a:avLst>
              <a:gd name="adj" fmla="val 3883"/>
            </a:avLst>
          </a:prstGeom>
          <a:solidFill xmlns:a="http://schemas.openxmlformats.org/drawingml/2006/main">
            <a:srgbClr val="0F1011"/>
          </a:solidFill>
          <a:ln xmlns:a="http://schemas.openxmlformats.org/drawingml/2006/main" w="9525">
            <a:solidFill>
              <a:srgbClr val="23252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FF75CF-FD00-4CC2-BDD9-4A203BAB5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295650"/>
            <a:ext cx="1543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Email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9AF520-C256-4285-9DBC-618BC2D90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733800"/>
            <a:ext cx="154305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rPr>
              <a:t>support@ 邮件自动归并线程，转 Conversation 或 Ticket。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14D9A3-FD17-49FF-BAA3-B974D5600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105150"/>
            <a:ext cx="1962150" cy="2095500"/>
          </a:xfrm>
          <a:prstGeom xmlns:a="http://schemas.openxmlformats.org/drawingml/2006/main" prst="roundRect">
            <a:avLst>
              <a:gd name="adj" fmla="val 3883"/>
            </a:avLst>
          </a:prstGeom>
          <a:solidFill xmlns:a="http://schemas.openxmlformats.org/drawingml/2006/main">
            <a:srgbClr val="0F1011"/>
          </a:solidFill>
          <a:ln xmlns:a="http://schemas.openxmlformats.org/drawingml/2006/main" w="9525">
            <a:solidFill>
              <a:srgbClr val="23252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19D6FF-80F0-46B9-B47F-E84515BEB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295650"/>
            <a:ext cx="1543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279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Discord / Slack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93C32B-DEBB-429F-A5F1-1BEA21FF4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733800"/>
            <a:ext cx="154305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rPr>
              <a:t>面向社区、开发者客户和内部协作场景的即时支持。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95D5D8-492B-4FA5-82F9-EC7B75A2F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105150"/>
            <a:ext cx="1962150" cy="2095500"/>
          </a:xfrm>
          <a:prstGeom xmlns:a="http://schemas.openxmlformats.org/drawingml/2006/main" prst="roundRect">
            <a:avLst>
              <a:gd name="adj" fmla="val 3883"/>
            </a:avLst>
          </a:prstGeom>
          <a:solidFill xmlns:a="http://schemas.openxmlformats.org/drawingml/2006/main">
            <a:srgbClr val="0F1011"/>
          </a:solidFill>
          <a:ln xmlns:a="http://schemas.openxmlformats.org/drawingml/2006/main" w="9525">
            <a:solidFill>
              <a:srgbClr val="23252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B7EB5B-F11A-4984-938F-E1A374D16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295650"/>
            <a:ext cx="1543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07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Telegram / WhatsApp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FFB4B0-6F50-4B0C-8A27-4D75463F9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733800"/>
            <a:ext cx="154305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rPr>
              <a:t>覆盖移动优先和国际化支持场景，后续扩展微信、LINE。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7AADBA-D0D4-4433-82A4-BEF70FBDB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105150"/>
            <a:ext cx="1962150" cy="2095500"/>
          </a:xfrm>
          <a:prstGeom xmlns:a="http://schemas.openxmlformats.org/drawingml/2006/main" prst="roundRect">
            <a:avLst>
              <a:gd name="adj" fmla="val 3883"/>
            </a:avLst>
          </a:prstGeom>
          <a:solidFill xmlns:a="http://schemas.openxmlformats.org/drawingml/2006/main">
            <a:srgbClr val="0F1011"/>
          </a:solidFill>
          <a:ln xmlns:a="http://schemas.openxmlformats.org/drawingml/2006/main" w="9525">
            <a:solidFill>
              <a:srgbClr val="23252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98FFF7F-92BB-473E-8BE2-545CA1373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295650"/>
            <a:ext cx="1543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339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API / Webhook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430CB3E-D14D-4868-9A4E-8352CB90F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733800"/>
            <a:ext cx="154305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rPr>
              <a:t>业务系统、CRM、工单系统和自定义工具可直接接入。</a:t>
            </a:r>
          </a:p>
        </p:txBody>
      </p:sp>
    </p:spTree>
    <p:extLst>
      <p:ext uri="{BB962C8B-B14F-4D97-AF65-F5344CB8AC3E}">
        <p14:creationId xmlns:p14="http://schemas.microsoft.com/office/powerpoint/2010/main" val="153163262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1010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5ED02C-77E5-4FDB-AADA-BB1DF36F9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3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KeenAI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93A0CD-A03D-4626-A4C4-F08F38FC0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952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97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Keeni AI Agent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F6BF87-7CB0-4E7C-9D7C-172E174C2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29527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2666D"/>
                </a:solidFill>
                <a:latin typeface="SF Pro Display"/>
                <a:ea typeface="SF Pro Display"/>
                <a:cs typeface="SF Pro Display"/>
              </a:defRPr>
            </a:pPr>
            <a:r>
              <a:rPr sz="975" b="0">
                <a:solidFill>
                  <a:srgbClr val="62666D"/>
                </a:solidFill>
                <a:latin typeface="SF Pro Display"/>
                <a:ea typeface="SF Pro Display"/>
                <a:cs typeface="SF Pro Display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72CCD0-DC32-4B44-8FF1-CF09DB815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252A"/>
          </a:solidFill>
          <a:ln xmlns:a="http://schemas.openxmlformats.org/drawingml/2006/main" w="0">
            <a:solidFill>
              <a:srgbClr val="23252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783993-7746-4FF7-8D09-132232283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9906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31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Keeni AI Agent 负责理解、回答、执行和升级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5A7807-8CE3-4D0F-B997-F48DEAEAD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33600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50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Agent 不只生成话术，而是在企业客服流程里使用知识、工具和规则完成可控动作。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F4EF0A-B12F-4FD9-B627-EE70F160F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2476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141516"/>
          </a:solidFill>
          <a:ln xmlns:a="http://schemas.openxmlformats.org/drawingml/2006/main" w="9525">
            <a:solidFill>
              <a:srgbClr val="5E6AD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7FDFB6-7752-4F8B-93CD-88554E8CE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285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6AD2"/>
          </a:solidFill>
          <a:ln xmlns:a="http://schemas.openxmlformats.org/drawingml/2006/main" w="0">
            <a:solidFill>
              <a:srgbClr val="5E6AD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F65780-4EEE-44EC-8195-4EA908730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4325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理解客户意图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9FB4D8-B595-42C4-92CA-97E712048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81400"/>
            <a:ext cx="2057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rPr>
              <a:t>识别咨询、Bug、账单、退款、功能请求、账号问题、情绪风险和升级条件。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AC7FF0-404A-441F-9C8B-5D60EC14D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952750"/>
            <a:ext cx="2476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0F1011"/>
          </a:solidFill>
          <a:ln xmlns:a="http://schemas.openxmlformats.org/drawingml/2006/main" w="9525">
            <a:solidFill>
              <a:srgbClr val="23252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FEC3D1-B95D-4C5E-B47B-E4F04B7E8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14325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检索可信答案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552347-CD55-47B7-ADF9-3AD143755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581400"/>
            <a:ext cx="2057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rPr>
              <a:t>优先调用 Help Center、产品文档、历史工单和内部知识，通过 RAG 生成带来源回复。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CE2C85-713B-4971-82E7-E8A2A1A74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952750"/>
            <a:ext cx="2476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0F1011"/>
          </a:solidFill>
          <a:ln xmlns:a="http://schemas.openxmlformats.org/drawingml/2006/main" w="9525">
            <a:solidFill>
              <a:srgbClr val="23252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5A96DA-4FC5-466A-B289-1E64DA49C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14325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执行客服动作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FCAE28-50D9-439B-A0DA-47EAE721C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581400"/>
            <a:ext cx="2057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rPr>
              <a:t>创建 Ticket、打标签、分配团队、推荐文档、订阅反馈、调用业务系统。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A2B8FD-2F90-42A1-AE9F-03DA7AD96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952750"/>
            <a:ext cx="2476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0F1011"/>
          </a:solidFill>
          <a:ln xmlns:a="http://schemas.openxmlformats.org/drawingml/2006/main" w="9525">
            <a:solidFill>
              <a:srgbClr val="23252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6AAF9B-9B53-42ED-8E3D-50AA35575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14325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人工兜底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9398AC-F9D8-44E0-89B2-12746B3DC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581400"/>
            <a:ext cx="2057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rPr>
              <a:t>低置信度、负面情绪、合规/退款等场景转人工，并交付摘要和建议。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4E33F6-536D-4A7A-B3CB-378D69B9F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722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80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企业价值：把重复首响和资料查询交给 AI，把复杂判断和关系维护留给人工。</a:t>
            </a:r>
          </a:p>
        </p:txBody>
      </p:sp>
    </p:spTree>
    <p:extLst>
      <p:ext uri="{BB962C8B-B14F-4D97-AF65-F5344CB8AC3E}">
        <p14:creationId xmlns:p14="http://schemas.microsoft.com/office/powerpoint/2010/main" val="24256360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1010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306737C-40FD-44EA-B36D-A3929E648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3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KeenAI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47DAE9-DE8E-4AD4-92CE-D879E9DAF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952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97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Agent Runtime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716B12-C82E-4CF1-9364-9B32AAB75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29527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2666D"/>
                </a:solidFill>
                <a:latin typeface="SF Pro Display"/>
                <a:ea typeface="SF Pro Display"/>
                <a:cs typeface="SF Pro Display"/>
              </a:defRPr>
            </a:pPr>
            <a:r>
              <a:rPr sz="975" b="0">
                <a:solidFill>
                  <a:srgbClr val="62666D"/>
                </a:solidFill>
                <a:latin typeface="SF Pro Display"/>
                <a:ea typeface="SF Pro Display"/>
                <a:cs typeface="SF Pro Display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F5B45C-84E6-4488-8EFA-7625BDC33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252A"/>
          </a:solidFill>
          <a:ln xmlns:a="http://schemas.openxmlformats.org/drawingml/2006/main" w="0">
            <a:solidFill>
              <a:srgbClr val="23252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2F5F39-A71F-4B17-B3C2-8060DF8AE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9906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31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Agent 的工作循环让每次回复都可解释、可干预、可升级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9D5993-2F4C-43F9-A0CB-E0CB9A236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33600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50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Plan -&gt; Retrieve -&gt; Act -&gt; Observe -&gt; Escalate，把 AI 放进企业可审计流程里。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F1ACFA-9AF1-49A3-B05E-89C06A52D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1809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0F1011"/>
          </a:solidFill>
          <a:ln xmlns:a="http://schemas.openxmlformats.org/drawingml/2006/main" w="9525">
            <a:solidFill>
              <a:srgbClr val="23252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33BC0D-7E64-4AF5-B12B-9EF426A99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9565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28FFF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1">
                <a:solidFill>
                  <a:srgbClr val="828FFF"/>
                </a:solidFill>
                <a:latin typeface="SF Pro Display"/>
                <a:ea typeface="SF Pro Display"/>
                <a:cs typeface="SF Pro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084563-62D3-45CA-A21A-B02E0BA22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86125"/>
            <a:ext cx="1009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575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Plan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B071F5-45B8-4409-AE93-EFCB89503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676650"/>
            <a:ext cx="10096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11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12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识别意图、风险、所需上下文和是否需要工具。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FDBBE5-7D67-4EF9-AB9E-765348F0B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695700"/>
            <a:ext cx="3810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E6AD2"/>
          </a:solidFill>
          <a:ln xmlns:a="http://schemas.openxmlformats.org/drawingml/2006/main" w="0">
            <a:solidFill>
              <a:srgbClr val="5E6AD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2A51D2-F548-49D4-AE1B-5F4E6622D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143250"/>
            <a:ext cx="1809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0F1011"/>
          </a:solidFill>
          <a:ln xmlns:a="http://schemas.openxmlformats.org/drawingml/2006/main" w="9525">
            <a:solidFill>
              <a:srgbClr val="23252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C0AB63-65C0-414B-974C-F1672B5A9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29565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28FFF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1">
                <a:solidFill>
                  <a:srgbClr val="828FFF"/>
                </a:solidFill>
                <a:latin typeface="SF Pro Display"/>
                <a:ea typeface="SF Pro Display"/>
                <a:cs typeface="SF Pro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E03721-3529-413F-9EDD-C75437863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286125"/>
            <a:ext cx="1009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575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Retrieve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C4308F-02C7-449B-8D86-2A702A9CB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676650"/>
            <a:ext cx="10096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33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12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从知识库、Memory、客户资料和工单历史取证。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8744D5-BC67-4C5F-803C-1593587E3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695700"/>
            <a:ext cx="3810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E6AD2"/>
          </a:solidFill>
          <a:ln xmlns:a="http://schemas.openxmlformats.org/drawingml/2006/main" w="0">
            <a:solidFill>
              <a:srgbClr val="5E6AD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1142EF-93BE-45B0-B3FC-5AAF6974A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143250"/>
            <a:ext cx="1809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0F1011"/>
          </a:solidFill>
          <a:ln xmlns:a="http://schemas.openxmlformats.org/drawingml/2006/main" w="9525">
            <a:solidFill>
              <a:srgbClr val="23252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D2DF3B-988D-4037-AB70-60ABDB22D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29565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28FFF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1">
                <a:solidFill>
                  <a:srgbClr val="828FFF"/>
                </a:solidFill>
                <a:latin typeface="SF Pro Display"/>
                <a:ea typeface="SF Pro Display"/>
                <a:cs typeface="SF Pro Display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BB13269-015B-4721-B88A-A50AA61CA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286125"/>
            <a:ext cx="1009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575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Act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90CA7E-D8D8-422D-8EB6-47385655F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676650"/>
            <a:ext cx="10096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11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12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生成回复、调用工具、创建工单或触发 Workflow。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90363F-F2F9-485B-AAA4-AC45B1F95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695700"/>
            <a:ext cx="3810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E6AD2"/>
          </a:solidFill>
          <a:ln xmlns:a="http://schemas.openxmlformats.org/drawingml/2006/main" w="0">
            <a:solidFill>
              <a:srgbClr val="5E6AD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F267023-CECC-4A9F-B843-7C74C6553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143250"/>
            <a:ext cx="1809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0F1011"/>
          </a:solidFill>
          <a:ln xmlns:a="http://schemas.openxmlformats.org/drawingml/2006/main" w="9525">
            <a:solidFill>
              <a:srgbClr val="23252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7388A82-84FD-4D18-923F-223977A64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29565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28FFF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1">
                <a:solidFill>
                  <a:srgbClr val="828FFF"/>
                </a:solidFill>
                <a:latin typeface="SF Pro Display"/>
                <a:ea typeface="SF Pro Display"/>
                <a:cs typeface="SF Pro Display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44F2483-C023-4E17-8073-A432A6CB6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286125"/>
            <a:ext cx="1009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575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Observe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0F77610-8776-45B9-A661-9BAC2649A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676650"/>
            <a:ext cx="10096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11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12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记录结果、用户反馈、采纳率、CSAT 和后续追问。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FC26A34-19F8-4938-8E0D-C27A7F228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695700"/>
            <a:ext cx="3810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E6AD2"/>
          </a:solidFill>
          <a:ln xmlns:a="http://schemas.openxmlformats.org/drawingml/2006/main" w="0">
            <a:solidFill>
              <a:srgbClr val="5E6AD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2438B8D-62E7-4192-9967-6FAE2549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143250"/>
            <a:ext cx="1809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0F1011"/>
          </a:solidFill>
          <a:ln xmlns:a="http://schemas.openxmlformats.org/drawingml/2006/main" w="9525">
            <a:solidFill>
              <a:srgbClr val="23252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E928964-5B4D-4136-8EF5-2ACA07838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29565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28FFF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1">
                <a:solidFill>
                  <a:srgbClr val="828FFF"/>
                </a:solidFill>
                <a:latin typeface="SF Pro Display"/>
                <a:ea typeface="SF Pro Display"/>
                <a:cs typeface="SF Pro Display"/>
              </a:rPr>
              <a:t>05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1A2B31C-F720-41E3-B223-6D0351779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3286125"/>
            <a:ext cx="1009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575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Escalate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88A5A42-4CBA-4444-A270-A20ED1DB8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3676650"/>
            <a:ext cx="10096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7778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12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低置信度、敏感动作或失败路径转人工处理。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A187A9F-48EF-4AF7-B90A-C516747A9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971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defRPr>
            </a:pPr>
            <a:r>
              <a:rPr sz="1425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rPr>
              <a:t>支持多模型：OpenAI / Anthropic / Gemini / DeepSeek / Kimi / Ollama，本地模型可用于私有化和离线部署。</a:t>
            </a:r>
          </a:p>
        </p:txBody>
      </p:sp>
    </p:spTree>
    <p:extLst>
      <p:ext uri="{BB962C8B-B14F-4D97-AF65-F5344CB8AC3E}">
        <p14:creationId xmlns:p14="http://schemas.microsoft.com/office/powerpoint/2010/main" val="56701207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1010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CF5B14-DF81-458E-9B4D-3C10C60C3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3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KeenAI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889703-FD93-46D9-8C8D-1DC324960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952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97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Knowledge Base / RAG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B22FE0-1538-46DB-89ED-0D899AE26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29527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2666D"/>
                </a:solidFill>
                <a:latin typeface="SF Pro Display"/>
                <a:ea typeface="SF Pro Display"/>
                <a:cs typeface="SF Pro Display"/>
              </a:defRPr>
            </a:pPr>
            <a:r>
              <a:rPr sz="975" b="0">
                <a:solidFill>
                  <a:srgbClr val="62666D"/>
                </a:solidFill>
                <a:latin typeface="SF Pro Display"/>
                <a:ea typeface="SF Pro Display"/>
                <a:cs typeface="SF Pro Display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EE1FB7-24C1-4492-BBEE-BC7A6EEE4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252A"/>
          </a:solidFill>
          <a:ln xmlns:a="http://schemas.openxmlformats.org/drawingml/2006/main" w="0">
            <a:solidFill>
              <a:srgbClr val="23252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32F2B3-90CB-425F-8819-FB569C520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9906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31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RAG 是 AI 可控回答的事实层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499E54-3046-4B97-96ED-69A018945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33600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50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KeenAI 将企业知识转成可检索、可评测、可追溯的回答依据。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3FF117-1F00-42D4-B998-60EBBA1C8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14650"/>
            <a:ext cx="24765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0F1011"/>
          </a:solidFill>
          <a:ln xmlns:a="http://schemas.openxmlformats.org/drawingml/2006/main" w="9525">
            <a:solidFill>
              <a:srgbClr val="23252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7D68EC-1796-48D9-A0B4-98E22318A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6705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28FFF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1">
                <a:solidFill>
                  <a:srgbClr val="828FFF"/>
                </a:solidFill>
                <a:latin typeface="SF Pro Display"/>
                <a:ea typeface="SF Pro Display"/>
                <a:cs typeface="SF Pro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46A934-3986-4CC4-8F74-4BB8697CF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057525"/>
            <a:ext cx="1676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575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Source ingestion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328CDE-FF76-402A-B342-DBEBA6A62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448050"/>
            <a:ext cx="1676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222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12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Help Center、Markdown、网页、GitHub、Intercom / Zendesk 导入、Roadmap 数据和历史工单。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A30B6F-9A3F-4754-99B5-471682105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467100"/>
            <a:ext cx="7239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E6AD2"/>
          </a:solidFill>
          <a:ln xmlns:a="http://schemas.openxmlformats.org/drawingml/2006/main" w="0">
            <a:solidFill>
              <a:srgbClr val="5E6AD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1FFB4D-EA42-4FBA-8EE7-BE35772FE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914650"/>
            <a:ext cx="24765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0F1011"/>
          </a:solidFill>
          <a:ln xmlns:a="http://schemas.openxmlformats.org/drawingml/2006/main" w="9525">
            <a:solidFill>
              <a:srgbClr val="23252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F4B029-B8A9-4045-88FF-10EA5AC2A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6705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28FFF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1">
                <a:solidFill>
                  <a:srgbClr val="828FFF"/>
                </a:solidFill>
                <a:latin typeface="SF Pro Display"/>
                <a:ea typeface="SF Pro Display"/>
                <a:cs typeface="SF Pro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B45A62-E71A-4003-BD83-68A9A65B6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57525"/>
            <a:ext cx="1676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575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Chunk + enrich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F94E24-50BD-4ED1-93E8-9BD275225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448050"/>
            <a:ext cx="1676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12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文档切块、元数据、版本、语言、权限、实体和关系抽取。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0CB749-D985-47A4-A725-4EDF0D490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467100"/>
            <a:ext cx="7239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E6AD2"/>
          </a:solidFill>
          <a:ln xmlns:a="http://schemas.openxmlformats.org/drawingml/2006/main" w="0">
            <a:solidFill>
              <a:srgbClr val="5E6AD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AC4E65-5D6F-4141-B01E-3640D9EAB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914650"/>
            <a:ext cx="24765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0F1011"/>
          </a:solidFill>
          <a:ln xmlns:a="http://schemas.openxmlformats.org/drawingml/2006/main" w="9525">
            <a:solidFill>
              <a:srgbClr val="23252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80B788-3459-4D1D-BB44-BCF96BFC5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6705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28FFF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1">
                <a:solidFill>
                  <a:srgbClr val="828FFF"/>
                </a:solidFill>
                <a:latin typeface="SF Pro Display"/>
                <a:ea typeface="SF Pro Display"/>
                <a:cs typeface="SF Pro Display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098C2F-3EA2-4C28-81D6-1A8152C2A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057525"/>
            <a:ext cx="1676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575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Hybrid retrieval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747169-31DF-4DE5-A1D9-64E1DD117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448050"/>
            <a:ext cx="1676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12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全文搜索 + 向量召回 + rerank，兼顾关键词精确匹配和语义理解。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275688A-2A7D-4163-B504-2E99475C1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19700"/>
            <a:ext cx="952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80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输出要求：答案附来源链接，知识可过期，命中质量可评测，查询日志可回流优化。</a:t>
            </a:r>
          </a:p>
        </p:txBody>
      </p:sp>
    </p:spTree>
    <p:extLst>
      <p:ext uri="{BB962C8B-B14F-4D97-AF65-F5344CB8AC3E}">
        <p14:creationId xmlns:p14="http://schemas.microsoft.com/office/powerpoint/2010/main" val="136436607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1010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05F370-908D-4EA5-8100-DC7995C53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3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KeenAI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CCBE58-B81F-438C-AC85-78FC85F58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952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97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RAG Quality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3EFA32-B33F-4366-BF22-50B79FD29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29527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2666D"/>
                </a:solidFill>
                <a:latin typeface="SF Pro Display"/>
                <a:ea typeface="SF Pro Display"/>
                <a:cs typeface="SF Pro Display"/>
              </a:defRPr>
            </a:pPr>
            <a:r>
              <a:rPr sz="975" b="0">
                <a:solidFill>
                  <a:srgbClr val="62666D"/>
                </a:solidFill>
                <a:latin typeface="SF Pro Display"/>
                <a:ea typeface="SF Pro Display"/>
                <a:cs typeface="SF Pro Display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E71F83-AF65-4378-85B8-011905250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252A"/>
          </a:solidFill>
          <a:ln xmlns:a="http://schemas.openxmlformats.org/drawingml/2006/main" w="0">
            <a:solidFill>
              <a:srgbClr val="23252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3173A4-A395-431B-8FAD-93DE66C03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9906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31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知识库不只回答问题，还持续提升客服质量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77DD8B-1107-4CB1-84BE-A1CD6C329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33600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50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企业级 RAG 的关键是权限、时效、评测和反馈回路，而不是简单向量搜索。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9254B6-A65B-4339-8D2C-6896BFA4E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48000"/>
            <a:ext cx="228600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0F1011"/>
          </a:solidFill>
          <a:ln xmlns:a="http://schemas.openxmlformats.org/drawingml/2006/main" w="9525">
            <a:solidFill>
              <a:srgbClr val="23252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A802B0-B835-4089-84A1-C307706C4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19450"/>
            <a:ext cx="1866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828FFF"/>
                </a:solidFill>
                <a:latin typeface="SF Pro Display"/>
                <a:ea typeface="SF Pro Display"/>
                <a:cs typeface="SF Pro Display"/>
              </a:defRPr>
            </a:pPr>
            <a:r>
              <a:rPr sz="2700" b="1">
                <a:solidFill>
                  <a:srgbClr val="828FFF"/>
                </a:solidFill>
                <a:latin typeface="SF Pro Display"/>
                <a:ea typeface="SF Pro Display"/>
                <a:cs typeface="SF Pro Display"/>
              </a:rPr>
              <a:t>Freshness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5FE618-85DF-417C-9387-F68707429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771900"/>
            <a:ext cx="1866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知识源更新、过期检测和版本记录，避免 AI 使用旧答案。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83306F-A4D9-42B3-9B03-904CE68F5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048000"/>
            <a:ext cx="228600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0F1011"/>
          </a:solidFill>
          <a:ln xmlns:a="http://schemas.openxmlformats.org/drawingml/2006/main" w="9525">
            <a:solidFill>
              <a:srgbClr val="23252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2C77FC-4014-4048-AD08-8450FDF7A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219450"/>
            <a:ext cx="1866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28FFF"/>
                </a:solidFill>
                <a:latin typeface="SF Pro Display"/>
                <a:ea typeface="SF Pro Display"/>
                <a:cs typeface="SF Pro Display"/>
              </a:defRPr>
            </a:pPr>
            <a:r>
              <a:rPr sz="2250" b="1">
                <a:solidFill>
                  <a:srgbClr val="828FFF"/>
                </a:solidFill>
                <a:latin typeface="SF Pro Display"/>
                <a:ea typeface="SF Pro Display"/>
                <a:cs typeface="SF Pro Display"/>
              </a:rPr>
              <a:t>Permission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C4D792-1593-4C56-A139-D8541E2B7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771900"/>
            <a:ext cx="1866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458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按 org、brand、角色和客户上下文过滤知识，避免越权引用。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59D70E-287D-45E4-9D41-063D2866E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48000"/>
            <a:ext cx="228600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0F1011"/>
          </a:solidFill>
          <a:ln xmlns:a="http://schemas.openxmlformats.org/drawingml/2006/main" w="9525">
            <a:solidFill>
              <a:srgbClr val="23252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36ED7E-D26C-4347-B394-0F16CEEB9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219450"/>
            <a:ext cx="1866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28FFF"/>
                </a:solidFill>
                <a:latin typeface="SF Pro Display"/>
                <a:ea typeface="SF Pro Display"/>
                <a:cs typeface="SF Pro Display"/>
              </a:defRPr>
            </a:pPr>
            <a:r>
              <a:rPr sz="2250" b="1">
                <a:solidFill>
                  <a:srgbClr val="828FFF"/>
                </a:solidFill>
                <a:latin typeface="SF Pro Display"/>
                <a:ea typeface="SF Pro Display"/>
                <a:cs typeface="SF Pro Display"/>
              </a:rPr>
              <a:t>Evaluation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A12053-8F83-4E99-95F9-4AD525201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771900"/>
            <a:ext cx="1866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322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Golden queries、命中率、引用覆盖和人工反馈用于持续评测。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6D5C03-9B20-4825-BC39-0451E4DD4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048000"/>
            <a:ext cx="228600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0F1011"/>
          </a:solidFill>
          <a:ln xmlns:a="http://schemas.openxmlformats.org/drawingml/2006/main" w="9525">
            <a:solidFill>
              <a:srgbClr val="23252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33714D-4214-4C54-8DD6-FF35629FD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219450"/>
            <a:ext cx="1866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28FFF"/>
                </a:solidFill>
                <a:latin typeface="SF Pro Display"/>
                <a:ea typeface="SF Pro Display"/>
                <a:cs typeface="SF Pro Display"/>
              </a:defRPr>
            </a:pPr>
            <a:r>
              <a:rPr sz="2250" b="1">
                <a:solidFill>
                  <a:srgbClr val="828FFF"/>
                </a:solidFill>
                <a:latin typeface="SF Pro Display"/>
                <a:ea typeface="SF Pro Display"/>
                <a:cs typeface="SF Pro Display"/>
              </a:rPr>
              <a:t>Traceability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412CA4-C532-4656-B9BF-1C46D4624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771900"/>
            <a:ext cx="1866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478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每条 AI 回复带来源、检索证据和生成路径，便于审计。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0BC2D9-4CEE-48EF-877D-8737A58B5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340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722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80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结果：降低幻觉，提升首响质量，并让客服知识沉淀变成可运营资产。</a:t>
            </a:r>
          </a:p>
        </p:txBody>
      </p:sp>
    </p:spTree>
    <p:extLst>
      <p:ext uri="{BB962C8B-B14F-4D97-AF65-F5344CB8AC3E}">
        <p14:creationId xmlns:p14="http://schemas.microsoft.com/office/powerpoint/2010/main" val="129766745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1010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9083C5-069B-4066-A9EF-5ED629B34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3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KeenAI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3FB52C-E6BF-4E30-835C-3B38DFC32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952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97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Memory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45FBA7-805C-4931-9CA9-EBEDA656F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29527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2666D"/>
                </a:solidFill>
                <a:latin typeface="SF Pro Display"/>
                <a:ea typeface="SF Pro Display"/>
                <a:cs typeface="SF Pro Display"/>
              </a:defRPr>
            </a:pPr>
            <a:r>
              <a:rPr sz="975" b="0">
                <a:solidFill>
                  <a:srgbClr val="62666D"/>
                </a:solidFill>
                <a:latin typeface="SF Pro Display"/>
                <a:ea typeface="SF Pro Display"/>
                <a:cs typeface="SF Pro Display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CA2C09-3991-4F17-AE8A-83B953B43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252A"/>
          </a:solidFill>
          <a:ln xmlns:a="http://schemas.openxmlformats.org/drawingml/2006/main" w="0">
            <a:solidFill>
              <a:srgbClr val="23252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F28CA4-D5F5-4554-A05B-C78ADC1D6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9906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31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Memory 让 Agent 记住客户、团队和长期上下文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5E4BB1-0FDA-4636-ABCD-C085189AA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33600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50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KeenAI 的 Memory 不是聊天记录缓存，而是服务于客户支持的长期知识层。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20EC84-7C57-4EAA-A5DA-7098457D9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247650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141516"/>
          </a:solidFill>
          <a:ln xmlns:a="http://schemas.openxmlformats.org/drawingml/2006/main" w="9525">
            <a:solidFill>
              <a:srgbClr val="5E6AD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4F3403-AA86-44F8-9500-DEC331514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28575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6AD2"/>
          </a:solidFill>
          <a:ln xmlns:a="http://schemas.openxmlformats.org/drawingml/2006/main" w="0">
            <a:solidFill>
              <a:srgbClr val="5E6AD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8B8FF2-24A6-405F-93C9-7D2024769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3850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Customer memory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A31535-93B3-4DBD-A99A-676FA7E5B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76650"/>
            <a:ext cx="20574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rPr>
              <a:t>客户偏好、历史问题、产品版本、购买计划、常见故障和满意度趋势。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097296-BAED-43C1-9727-4329C9AA1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048000"/>
            <a:ext cx="247650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0F1011"/>
          </a:solidFill>
          <a:ln xmlns:a="http://schemas.openxmlformats.org/drawingml/2006/main" w="9525">
            <a:solidFill>
              <a:srgbClr val="23252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624AE5-04DB-438E-B9AB-230B42EF0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23850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92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Conversation memory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2F5EC8-3F74-4B8D-A029-C1B9D0433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676650"/>
            <a:ext cx="20574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rPr>
              <a:t>当前对话的事实、已尝试方案、未解决问题和人工交接摘要。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E972F5-5F33-4D1C-BF0B-90C18158E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048000"/>
            <a:ext cx="247650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0F1011"/>
          </a:solidFill>
          <a:ln xmlns:a="http://schemas.openxmlformats.org/drawingml/2006/main" w="9525">
            <a:solidFill>
              <a:srgbClr val="23252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ED348C-0D4C-45D6-9476-5143968F3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23850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Team memory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E78CBD-BF29-48D1-9883-1A14248F6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676650"/>
            <a:ext cx="20574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rPr>
              <a:t>团队处理偏好、宏模板、升级规则、成功案例和内部 SOP。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17B03F-04D9-472E-99AF-27243E9A9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048000"/>
            <a:ext cx="247650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0F1011"/>
          </a:solidFill>
          <a:ln xmlns:a="http://schemas.openxmlformats.org/drawingml/2006/main" w="9525">
            <a:solidFill>
              <a:srgbClr val="23252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E22A28-7E51-4FDF-9927-4C8B5474B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23850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Product memory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ECCD6B-82EA-407F-9380-8D017E272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676650"/>
            <a:ext cx="20574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rPr>
              <a:t>功能缺口、重复需求、Bug 模式和 Roadmap / Changelog 关联。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25EB5A-0CD6-4AC2-ACDC-D5C30C70A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722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80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Memory 价值：减少重复询问，让 AI 和人工客服共享同一份可延续上下文。</a:t>
            </a:r>
          </a:p>
        </p:txBody>
      </p:sp>
    </p:spTree>
    <p:extLst>
      <p:ext uri="{BB962C8B-B14F-4D97-AF65-F5344CB8AC3E}">
        <p14:creationId xmlns:p14="http://schemas.microsoft.com/office/powerpoint/2010/main" val="200423624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1010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DE7E46-71A5-491F-8A31-DEE8D30A1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3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KeenAI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454EE8-874F-4302-9B5F-FAF8BDB7E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952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97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Memory Pipeline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F965E9-22BC-40CF-A938-B7CF6E464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29527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2666D"/>
                </a:solidFill>
                <a:latin typeface="SF Pro Display"/>
                <a:ea typeface="SF Pro Display"/>
                <a:cs typeface="SF Pro Display"/>
              </a:defRPr>
            </a:pPr>
            <a:r>
              <a:rPr sz="975" b="0">
                <a:solidFill>
                  <a:srgbClr val="62666D"/>
                </a:solidFill>
                <a:latin typeface="SF Pro Display"/>
                <a:ea typeface="SF Pro Display"/>
                <a:cs typeface="SF Pro Display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6D8492-9CAF-4873-BD1D-21637A904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252A"/>
          </a:solidFill>
          <a:ln xmlns:a="http://schemas.openxmlformats.org/drawingml/2006/main" w="0">
            <a:solidFill>
              <a:srgbClr val="23252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251E71-C633-4E54-9F76-964504093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9906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31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记忆需要抽取、压缩、冲突处理和遗忘机制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973C33-3BCB-441B-AF27-3D0ECA84E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33600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50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企业客服里的记忆必须可信、可纠错、可删除，才能符合运营和合规要求。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1FFB9B-F84E-47A9-80A4-D20DA80F9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90850"/>
            <a:ext cx="2381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0F1011"/>
          </a:solidFill>
          <a:ln xmlns:a="http://schemas.openxmlformats.org/drawingml/2006/main" w="9525">
            <a:solidFill>
              <a:srgbClr val="23252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8CDC23-D89D-405C-B95C-054E95DF6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4325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28FFF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1">
                <a:solidFill>
                  <a:srgbClr val="828FFF"/>
                </a:solidFill>
                <a:latin typeface="SF Pro Display"/>
                <a:ea typeface="SF Pro Display"/>
                <a:cs typeface="SF Pro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BCCE13-D748-4B25-92EE-D5CB424DE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133725"/>
            <a:ext cx="1581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575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Extract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510B5A-F1D1-40E7-A22D-C4800FD18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524250"/>
            <a:ext cx="15811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12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从对话、工单和反馈中抽取事实、偏好、实体、关系和待办。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BB3D07-2AE1-43A2-A026-76D89308D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543300"/>
            <a:ext cx="6096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E6AD2"/>
          </a:solidFill>
          <a:ln xmlns:a="http://schemas.openxmlformats.org/drawingml/2006/main" w="0">
            <a:solidFill>
              <a:srgbClr val="5E6AD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CCDC79-6D7E-48BF-9621-47AAE973A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990850"/>
            <a:ext cx="2381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0F1011"/>
          </a:solidFill>
          <a:ln xmlns:a="http://schemas.openxmlformats.org/drawingml/2006/main" w="9525">
            <a:solidFill>
              <a:srgbClr val="23252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722C5C-2751-421D-911C-CB1868588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14325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28FFF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1">
                <a:solidFill>
                  <a:srgbClr val="828FFF"/>
                </a:solidFill>
                <a:latin typeface="SF Pro Display"/>
                <a:ea typeface="SF Pro Display"/>
                <a:cs typeface="SF Pro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9B3F7A-EB35-4AFB-A09A-6ED783B5D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133725"/>
            <a:ext cx="1581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575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Consolidate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F8181C-CB9A-4109-BE2D-DF9CA6371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524250"/>
            <a:ext cx="15811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7778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12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合并重复事实，压缩长对话，形成客户级、主题级和全局摘要树。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E785A7-81FD-4EDF-ADAB-88F4589F9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543300"/>
            <a:ext cx="6096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E6AD2"/>
          </a:solidFill>
          <a:ln xmlns:a="http://schemas.openxmlformats.org/drawingml/2006/main" w="0">
            <a:solidFill>
              <a:srgbClr val="5E6AD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AEDE08-3998-429D-AA47-F4CC2FF2C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990850"/>
            <a:ext cx="2381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0F1011"/>
          </a:solidFill>
          <a:ln xmlns:a="http://schemas.openxmlformats.org/drawingml/2006/main" w="9525">
            <a:solidFill>
              <a:srgbClr val="23252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1D39BF-70A3-43B7-8604-88585BA7A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14325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28FFF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1">
                <a:solidFill>
                  <a:srgbClr val="828FFF"/>
                </a:solidFill>
                <a:latin typeface="SF Pro Display"/>
                <a:ea typeface="SF Pro Display"/>
                <a:cs typeface="SF Pro Display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D9203D-38B4-4562-83EB-BCDD1439E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133725"/>
            <a:ext cx="1581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575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Validate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D925D0-63CA-4C24-BB10-34DCE4319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524250"/>
            <a:ext cx="15811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12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用置信度、时间衰减和矛盾检测防止错误记忆污染回答。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5526DA-2E82-4A4A-A590-610D90E2A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19700"/>
            <a:ext cx="1000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725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合规边界：支持数据导出、删除、审计和租户隔离；敏感信息经过 PII 处理后进入记忆层。</a:t>
            </a:r>
          </a:p>
        </p:txBody>
      </p:sp>
    </p:spTree>
    <p:extLst>
      <p:ext uri="{BB962C8B-B14F-4D97-AF65-F5344CB8AC3E}">
        <p14:creationId xmlns:p14="http://schemas.microsoft.com/office/powerpoint/2010/main" val="146537570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1010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A63CCE-CB55-4DD9-9CB3-3B62AA8CC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3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KeenAI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A2857B-FCF6-4822-A977-BC97297C2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952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97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Workflow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2BE13B-A83B-4CAB-8295-D9AD264D8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29527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2666D"/>
                </a:solidFill>
                <a:latin typeface="SF Pro Display"/>
                <a:ea typeface="SF Pro Display"/>
                <a:cs typeface="SF Pro Display"/>
              </a:defRPr>
            </a:pPr>
            <a:r>
              <a:rPr sz="975" b="0">
                <a:solidFill>
                  <a:srgbClr val="62666D"/>
                </a:solidFill>
                <a:latin typeface="SF Pro Display"/>
                <a:ea typeface="SF Pro Display"/>
                <a:cs typeface="SF Pro Display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54A935-658B-472C-8AB4-5C19EFD99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252A"/>
          </a:solidFill>
          <a:ln xmlns:a="http://schemas.openxmlformats.org/drawingml/2006/main" w="0">
            <a:solidFill>
              <a:srgbClr val="23252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6688D3-D0CD-4DAC-AEAC-EE09BFB5C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9906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31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Workflow 把客服处理经验变成可配置、可追踪的自动化流程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1B7C9F-D42B-4735-93AE-15B24EC84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33600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50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Trigger + Condition + Action，让企业不写代码也能沉淀标准流程。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F30E34-FFF4-401A-8804-83C288EAF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67050"/>
            <a:ext cx="28575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141516"/>
          </a:solidFill>
          <a:ln xmlns:a="http://schemas.openxmlformats.org/drawingml/2006/main" w="9525">
            <a:solidFill>
              <a:srgbClr val="5E6AD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4A2D6A-2CD8-48D8-889E-D0207002D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67050"/>
            <a:ext cx="2857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6AD2"/>
          </a:solidFill>
          <a:ln xmlns:a="http://schemas.openxmlformats.org/drawingml/2006/main" w="0">
            <a:solidFill>
              <a:srgbClr val="5E6AD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B0D0CB-6114-4D22-A010-7E93F6528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57550"/>
            <a:ext cx="243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Trigger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87498C-B09E-4631-9785-853E5BA18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95700"/>
            <a:ext cx="24384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rPr>
              <a:t>客户发起新对话、邮件进入、Discord 提问、Ticket 状态变化、客户/客服超时未回复、定时任务、Webhook。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0E1C2D-2B27-4EF2-AC44-7D811E4D1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81425"/>
            <a:ext cx="7239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E6AD2"/>
          </a:solidFill>
          <a:ln xmlns:a="http://schemas.openxmlformats.org/drawingml/2006/main" w="0">
            <a:solidFill>
              <a:srgbClr val="5E6AD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652B57-47F3-4D07-99EC-835FAE1B9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067050"/>
            <a:ext cx="28575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F1011"/>
          </a:solidFill>
          <a:ln xmlns:a="http://schemas.openxmlformats.org/drawingml/2006/main" w="9525">
            <a:solidFill>
              <a:srgbClr val="23252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47A7F0-A08A-4B7F-A123-AFA406313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257550"/>
            <a:ext cx="243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Condition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37603A-4A3E-4411-A569-5BC20C831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695700"/>
            <a:ext cx="24384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rPr>
              <a:t>客户等级、渠道来源、工作时间、关键词/意图、AI 置信度、是否已有工单、SLA 状态。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1DF531-F02E-4C3E-8F4A-1869E1C90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781425"/>
            <a:ext cx="7239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E6AD2"/>
          </a:solidFill>
          <a:ln xmlns:a="http://schemas.openxmlformats.org/drawingml/2006/main" w="0">
            <a:solidFill>
              <a:srgbClr val="5E6AD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F756C9-80F8-4F32-A4F6-B4F08F2CC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067050"/>
            <a:ext cx="23622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F1011"/>
          </a:solidFill>
          <a:ln xmlns:a="http://schemas.openxmlformats.org/drawingml/2006/main" w="9525">
            <a:solidFill>
              <a:srgbClr val="23252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BC612B-FEB4-45F6-A6CA-784B995B1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257550"/>
            <a:ext cx="1943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Action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182E4C-DA8B-4E2E-99F9-8B050092A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695700"/>
            <a:ext cx="19431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84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rPr>
              <a:t>让 AI 回答、分配团队、创建 Ticket、应用 SLA、发送通知、调用 HTTP API / MCP、关闭或重开对话。</a:t>
            </a:r>
          </a:p>
        </p:txBody>
      </p:sp>
    </p:spTree>
    <p:extLst>
      <p:ext uri="{BB962C8B-B14F-4D97-AF65-F5344CB8AC3E}">
        <p14:creationId xmlns:p14="http://schemas.microsoft.com/office/powerpoint/2010/main" val="55021542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1010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58A0A98-CA5C-4EC7-8B74-F2DC3E4AE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3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KeenAI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AC4237-0C28-4790-82A6-AFBCF636A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952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97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Workflow Blocks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337173-8D06-4F60-BFFD-85EED67BA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29527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2666D"/>
                </a:solidFill>
                <a:latin typeface="SF Pro Display"/>
                <a:ea typeface="SF Pro Display"/>
                <a:cs typeface="SF Pro Display"/>
              </a:defRPr>
            </a:pPr>
            <a:r>
              <a:rPr sz="975" b="0">
                <a:solidFill>
                  <a:srgbClr val="62666D"/>
                </a:solidFill>
                <a:latin typeface="SF Pro Display"/>
                <a:ea typeface="SF Pro Display"/>
                <a:cs typeface="SF Pro Display"/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6FFF86-6E50-452D-B3B0-0F2970342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252A"/>
          </a:solidFill>
          <a:ln xmlns:a="http://schemas.openxmlformats.org/drawingml/2006/main" w="0">
            <a:solidFill>
              <a:srgbClr val="23252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71D525-68FB-4B85-B6CA-68C2A6F95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9906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31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Block 列表覆盖 AI、消息、输入、流程控制、工单和集成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3FF1F7-02FB-493B-841C-7DB5B960D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33600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50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Block 是可视化 Workflow Builder 的最小执行单元，运营团队可以组合成标准客服流程。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CDF86D-A221-4900-948A-6E1220D3D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24765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141516"/>
          </a:solidFill>
          <a:ln xmlns:a="http://schemas.openxmlformats.org/drawingml/2006/main" w="9525">
            <a:solidFill>
              <a:srgbClr val="5E6AD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5CBDE0-CBC3-4026-974E-6C645D998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2857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6AD2"/>
          </a:solidFill>
          <a:ln xmlns:a="http://schemas.openxmlformats.org/drawingml/2006/main" w="0">
            <a:solidFill>
              <a:srgbClr val="5E6AD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181152-B088-423D-A270-DBA533C23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2420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AI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35E404-8631-4560-839B-9BB29D6AE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62350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rPr>
              <a:t>let_keeni_answer</a:t>
            </a:r>
          </a:p>
          <a:p xmlns:a="http://schemas.openxmlformats.org/drawingml/2006/main">
            <a:pPr algn="l">
              <a:def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rPr>
              <a:t>挂载 Keeni Agent，输出 resolution 并进入分支。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508AFA-84DA-40DB-8D6F-3572D5E12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933700"/>
            <a:ext cx="24765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0F1011"/>
          </a:solidFill>
          <a:ln xmlns:a="http://schemas.openxmlformats.org/drawingml/2006/main" w="9525">
            <a:solidFill>
              <a:srgbClr val="23252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24C641-7171-4E7A-9FC1-F5F4BB344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12420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客户可见消息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31AD12-2FCF-4612-B907-99A009341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562350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rPr>
              <a:t>send_message</a:t>
            </a:r>
          </a:p>
          <a:p xmlns:a="http://schemas.openxmlformats.org/drawingml/2006/main">
            <a:pPr algn="l">
              <a:def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rPr>
              <a:t>show_expected_reply_time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BEB4DB-4171-4C9B-80A6-3939E7F5E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933700"/>
            <a:ext cx="24765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0F1011"/>
          </a:solidFill>
          <a:ln xmlns:a="http://schemas.openxmlformats.org/drawingml/2006/main" w="9525">
            <a:solidFill>
              <a:srgbClr val="23252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97B4BD-EECB-400A-8C80-C91937AF9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12420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客户输入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B8D5F0-8CF7-4DAE-9648-E79620FEA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562350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rPr>
              <a:t>reply_buttons</a:t>
            </a:r>
          </a:p>
          <a:p xmlns:a="http://schemas.openxmlformats.org/drawingml/2006/main">
            <a:pPr algn="l">
              <a:def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rPr>
              <a:t>collect_data</a:t>
            </a:r>
          </a:p>
          <a:p xmlns:a="http://schemas.openxmlformats.org/drawingml/2006/main">
            <a:pPr algn="l">
              <a:def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rPr>
              <a:t>collect_customer_reply</a:t>
            </a:r>
          </a:p>
          <a:p xmlns:a="http://schemas.openxmlformats.org/drawingml/2006/main">
            <a:pPr algn="l">
              <a:def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rPr>
              <a:t>disable_customer_reply</a:t>
            </a:r>
          </a:p>
          <a:p xmlns:a="http://schemas.openxmlformats.org/drawingml/2006/main">
            <a:pPr algn="l">
              <a:def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rPr>
              <a:t>csat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1311A0-BE80-4B62-988E-0DE6FF30D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933700"/>
            <a:ext cx="24765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0F1011"/>
          </a:solidFill>
          <a:ln xmlns:a="http://schemas.openxmlformats.org/drawingml/2006/main" w="9525">
            <a:solidFill>
              <a:srgbClr val="23252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ECB933-FD50-4510-916B-39732B910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12420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流程控制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D24BE6-1968-4C65-8A31-ED40B4497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562350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rPr>
              <a:t>branches</a:t>
            </a:r>
          </a:p>
          <a:p xmlns:a="http://schemas.openxmlformats.org/drawingml/2006/main">
            <a:pPr algn="l">
              <a:def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rPr>
              <a:t>apply_rules</a:t>
            </a:r>
          </a:p>
          <a:p xmlns:a="http://schemas.openxmlformats.org/drawingml/2006/main">
            <a:pPr algn="l">
              <a:def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rPr>
              <a:t>wait</a:t>
            </a:r>
          </a:p>
          <a:p xmlns:a="http://schemas.openxmlformats.org/drawingml/2006/main">
            <a:pPr algn="l">
              <a:def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rPr>
              <a:t>goto</a:t>
            </a:r>
          </a:p>
          <a:p xmlns:a="http://schemas.openxmlformats.org/drawingml/2006/main">
            <a:pPr algn="l">
              <a:def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rPr>
              <a:t>end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91B8A0-A930-4F75-8A2B-EAC768C46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0100"/>
            <a:ext cx="33147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0F1011"/>
          </a:solidFill>
          <a:ln xmlns:a="http://schemas.openxmlformats.org/drawingml/2006/main" w="9525">
            <a:solidFill>
              <a:srgbClr val="23252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C4FCBA6-CDFA-46F9-8D33-5EC5A17C8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00600"/>
            <a:ext cx="2895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后台动作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6C8B7F-7344-4103-A6F9-C56F4ABFA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387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509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rPr>
              <a:t>assign / mark_priority / apply_sla</a:t>
            </a:r>
          </a:p>
          <a:p xmlns:a="http://schemas.openxmlformats.org/drawingml/2006/main">
            <a:pPr algn="l">
              <a:def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rPr>
              <a:t>add_note / tag_end_user / tag_conversation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C4C37A2-045D-4861-89E5-D6B1D0087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610100"/>
            <a:ext cx="33147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0F1011"/>
          </a:solidFill>
          <a:ln xmlns:a="http://schemas.openxmlformats.org/drawingml/2006/main" w="9525">
            <a:solidFill>
              <a:srgbClr val="23252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C383D24-22E9-4CB5-BE0D-C6B25085E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800600"/>
            <a:ext cx="2895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状态与 Ticket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47D3FDB-50CB-4451-8E08-738B86620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52387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91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rPr>
              <a:t>snooze / close / reopen</a:t>
            </a:r>
          </a:p>
          <a:p xmlns:a="http://schemas.openxmlformats.org/drawingml/2006/main">
            <a:pPr algn="l">
              <a:def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rPr>
              <a:t>set_ticket_state / send_ticket_form / convert_to_ticket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C21B418-E0A4-4025-9395-29A61D6A5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610100"/>
            <a:ext cx="33147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141516"/>
          </a:solidFill>
          <a:ln xmlns:a="http://schemas.openxmlformats.org/drawingml/2006/main" w="9525">
            <a:solidFill>
              <a:srgbClr val="5E6AD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731720C-12E4-4515-8512-6525CE06D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610100"/>
            <a:ext cx="2857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6AD2"/>
          </a:solidFill>
          <a:ln xmlns:a="http://schemas.openxmlformats.org/drawingml/2006/main" w="0">
            <a:solidFill>
              <a:srgbClr val="5E6AD2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5CEBE01-C3A9-4446-B970-12558EE4B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800600"/>
            <a:ext cx="2895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集成扩展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891F29B-632B-496C-BA2F-A449A088D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52387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rPr>
              <a:t>http_request / script</a:t>
            </a:r>
          </a:p>
          <a:p xmlns:a="http://schemas.openxmlformats.org/drawingml/2006/main">
            <a:pPr algn="l">
              <a:def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rPr>
              <a:t>webhook_emit / mcp_call</a:t>
            </a:r>
          </a:p>
        </p:txBody>
      </p:sp>
    </p:spTree>
    <p:extLst>
      <p:ext uri="{BB962C8B-B14F-4D97-AF65-F5344CB8AC3E}">
        <p14:creationId xmlns:p14="http://schemas.microsoft.com/office/powerpoint/2010/main" val="37794937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1010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22681DF-2ED7-474A-9420-D6ED5AF3F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3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KeenAI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746B96-D6C1-428B-888B-FE75114AB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952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97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Workflow Demo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BC40DA-3890-41BC-9261-354F2F58A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29527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2666D"/>
                </a:solidFill>
                <a:latin typeface="SF Pro Display"/>
                <a:ea typeface="SF Pro Display"/>
                <a:cs typeface="SF Pro Display"/>
              </a:defRPr>
            </a:pPr>
            <a:r>
              <a:rPr sz="975" b="0">
                <a:solidFill>
                  <a:srgbClr val="62666D"/>
                </a:solidFill>
                <a:latin typeface="SF Pro Display"/>
                <a:ea typeface="SF Pro Display"/>
                <a:cs typeface="SF Pro Display"/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F1CE93-FB6C-4CFD-9C23-062E160BC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252A"/>
          </a:solidFill>
          <a:ln xmlns:a="http://schemas.openxmlformats.org/drawingml/2006/main" w="0">
            <a:solidFill>
              <a:srgbClr val="23252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BF2D16-DD7D-4827-9AF0-3C056A16E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9906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31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Demo 图：企业客户 Bug 反馈自动转工单并通知进度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2B3E50-3538-4DF7-BEF6-89BC1A13D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33600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50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这条流程展示 Trigger、AI Block、条件分支、Ticket Block、SLA 和通知如何组合。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9E04FF-8915-4D11-B785-D9CEBA62F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71800"/>
            <a:ext cx="25717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0F1011"/>
          </a:solidFill>
          <a:ln xmlns:a="http://schemas.openxmlformats.org/drawingml/2006/main" w="9525">
            <a:solidFill>
              <a:srgbClr val="23252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AC55BC-7F76-49B8-A993-C2667BF71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242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28FFF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1">
                <a:solidFill>
                  <a:srgbClr val="828FFF"/>
                </a:solidFill>
                <a:latin typeface="SF Pro Display"/>
                <a:ea typeface="SF Pro Display"/>
                <a:cs typeface="SF Pro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7AD5E9-2A68-49AA-B4B4-F80C837BD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114675"/>
            <a:ext cx="1771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575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Trigger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4A4E9E-87A0-4F0A-A22B-E4FBA651B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505200"/>
            <a:ext cx="1771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057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12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Enterprise 客户从 Discord 发送 “export failed” 反馈。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8A31FA-17D8-4F2F-BD0A-C270BC563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409950"/>
            <a:ext cx="6096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E6AD2"/>
          </a:solidFill>
          <a:ln xmlns:a="http://schemas.openxmlformats.org/drawingml/2006/main" w="0">
            <a:solidFill>
              <a:srgbClr val="5E6AD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DD7580-AF56-494F-A5B3-051B456C8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971800"/>
            <a:ext cx="25717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0F1011"/>
          </a:solidFill>
          <a:ln xmlns:a="http://schemas.openxmlformats.org/drawingml/2006/main" w="9525">
            <a:solidFill>
              <a:srgbClr val="23252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1DF0B7-E407-4A4C-AFAF-A348F82E9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1242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28FFF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1">
                <a:solidFill>
                  <a:srgbClr val="828FFF"/>
                </a:solidFill>
                <a:latin typeface="SF Pro Display"/>
                <a:ea typeface="SF Pro Display"/>
                <a:cs typeface="SF Pro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80B991-3583-4C9C-A77B-2FF597B60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114675"/>
            <a:ext cx="1771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575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let_keeni_answer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DA54D4-BE85-404B-845A-E740F7655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505200"/>
            <a:ext cx="1771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926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12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Agent 检索 RAG、读取 Memory，判断为 Bug，置信度 0.84。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888FF5-A2C6-4EC2-90E1-A94B478F0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409950"/>
            <a:ext cx="6096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E6AD2"/>
          </a:solidFill>
          <a:ln xmlns:a="http://schemas.openxmlformats.org/drawingml/2006/main" w="0">
            <a:solidFill>
              <a:srgbClr val="5E6AD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D53BE3-BCF7-4B46-BB15-406F4C024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971800"/>
            <a:ext cx="25717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0F1011"/>
          </a:solidFill>
          <a:ln xmlns:a="http://schemas.openxmlformats.org/drawingml/2006/main" w="9525">
            <a:solidFill>
              <a:srgbClr val="23252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FB4499-A674-4D40-AB1D-831B7D4ED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1242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28FFF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1">
                <a:solidFill>
                  <a:srgbClr val="828FFF"/>
                </a:solidFill>
                <a:latin typeface="SF Pro Display"/>
                <a:ea typeface="SF Pro Display"/>
                <a:cs typeface="SF Pro Display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8444E8-F55A-4C0E-BB9A-E6263DCC8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14675"/>
            <a:ext cx="1771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575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branches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71CB12-3F7C-4E27-9628-EFC24AE84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505200"/>
            <a:ext cx="1771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926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12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如果 type = bug 且 plan = enterprise，进入高优先级路径。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C4BCB7-F883-49E3-AA98-348E5F775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324350"/>
            <a:ext cx="400050" cy="5524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5E6AD2"/>
          </a:solidFill>
          <a:ln xmlns:a="http://schemas.openxmlformats.org/drawingml/2006/main" w="0">
            <a:solidFill>
              <a:srgbClr val="5E6AD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FB130F-2937-4BF7-A516-83E57E186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953000"/>
            <a:ext cx="25717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0F1011"/>
          </a:solidFill>
          <a:ln xmlns:a="http://schemas.openxmlformats.org/drawingml/2006/main" w="9525">
            <a:solidFill>
              <a:srgbClr val="23252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A88B66-2AC8-4A5E-A76A-062A2CD52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51054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28FFF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1">
                <a:solidFill>
                  <a:srgbClr val="828FFF"/>
                </a:solidFill>
                <a:latin typeface="SF Pro Display"/>
                <a:ea typeface="SF Pro Display"/>
                <a:cs typeface="SF Pro Display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617483-3F0E-448D-A34B-8445B10AC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5095875"/>
            <a:ext cx="1771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575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convert_to_ticket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0C898B4-6730-482D-AADB-AE8E94009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5486400"/>
            <a:ext cx="1771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926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12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创建 Customer Ticket，关联 conversation、证据和客户上下文。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546080D-FE78-4B92-94A9-A03F6B26A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391150"/>
            <a:ext cx="6096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E6AD2"/>
          </a:solidFill>
          <a:ln xmlns:a="http://schemas.openxmlformats.org/drawingml/2006/main" w="0">
            <a:solidFill>
              <a:srgbClr val="5E6AD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7CEFA4F-CEF2-418F-9249-9E9B3842F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953000"/>
            <a:ext cx="25717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0F1011"/>
          </a:solidFill>
          <a:ln xmlns:a="http://schemas.openxmlformats.org/drawingml/2006/main" w="9525">
            <a:solidFill>
              <a:srgbClr val="23252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CBDDD64-4D79-451C-94D1-22D66E150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1054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28FFF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1">
                <a:solidFill>
                  <a:srgbClr val="828FFF"/>
                </a:solidFill>
                <a:latin typeface="SF Pro Display"/>
                <a:ea typeface="SF Pro Display"/>
                <a:cs typeface="SF Pro Display"/>
              </a:rPr>
              <a:t>05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E1AC5CC-26ED-4DF6-9129-2E4AAB3BA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5095875"/>
            <a:ext cx="1771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079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575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assign + SLA + notify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6EC776B-DF61-4855-8073-1C873915F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5486400"/>
            <a:ext cx="1771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926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12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分配 Engineering Triage，应用 1 小时 SLA，并通知客户进度。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C546202-76B1-43C3-A2C4-B1AC438C7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00550"/>
            <a:ext cx="685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207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575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结果：客户收到确认与进度通知；客服接手时工单、证据、SLA 和上下文已准备好。</a:t>
            </a:r>
          </a:p>
        </p:txBody>
      </p:sp>
    </p:spTree>
    <p:extLst>
      <p:ext uri="{BB962C8B-B14F-4D97-AF65-F5344CB8AC3E}">
        <p14:creationId xmlns:p14="http://schemas.microsoft.com/office/powerpoint/2010/main" val="163434538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1010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1D9853-317B-4DF8-8B14-28C7DA98B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3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KeenAI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E097AC-A55A-4BA3-9C14-356FC248D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952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97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AI + RAG + Memory + Workflow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0E5BD2-C10D-4B86-B7D9-5EE1B88A5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29527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2666D"/>
                </a:solidFill>
                <a:latin typeface="SF Pro Display"/>
                <a:ea typeface="SF Pro Display"/>
                <a:cs typeface="SF Pro Display"/>
              </a:defRPr>
            </a:pPr>
            <a:r>
              <a:rPr sz="975" b="0">
                <a:solidFill>
                  <a:srgbClr val="62666D"/>
                </a:solidFill>
                <a:latin typeface="SF Pro Display"/>
                <a:ea typeface="SF Pro Display"/>
                <a:cs typeface="SF Pro Display"/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290616-B9B4-40ED-9DB3-67DC5102D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252A"/>
          </a:solidFill>
          <a:ln xmlns:a="http://schemas.openxmlformats.org/drawingml/2006/main" w="0">
            <a:solidFill>
              <a:srgbClr val="23252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87743D-6C3C-4946-BE3A-34B9245C8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9906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31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四个核心能力组合，才是真正的企业级 AI 客服闭环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CA1D85-2B2A-4C53-A7B6-A83CE5253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33600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50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RAG 提供事实，Memory 提供上下文，Agent 做判断和执行，Workflow 负责治理和编排。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18BBA2-381A-4224-A121-87CB6B234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200400"/>
            <a:ext cx="18097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141516"/>
          </a:solidFill>
          <a:ln xmlns:a="http://schemas.openxmlformats.org/drawingml/2006/main" w="9525">
            <a:solidFill>
              <a:srgbClr val="5E6AD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147974-B227-4D74-9ECC-C0D1C8FDA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457575"/>
            <a:ext cx="1238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75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80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RAG</a:t>
            </a:r>
          </a:p>
          <a:p xmlns:a="http://schemas.openxmlformats.org/drawingml/2006/main">
            <a:pPr algn="ctr">
              <a:defRPr sz="180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80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事实与来源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89180F-2133-4CF9-ACB6-95F3B59F7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571875"/>
            <a:ext cx="6667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E6AD2"/>
          </a:solidFill>
          <a:ln xmlns:a="http://schemas.openxmlformats.org/drawingml/2006/main" w="0">
            <a:solidFill>
              <a:srgbClr val="5E6AD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13639F-838E-4819-9390-17D1E66AF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200400"/>
            <a:ext cx="18097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141516"/>
          </a:solidFill>
          <a:ln xmlns:a="http://schemas.openxmlformats.org/drawingml/2006/main" w="9525">
            <a:solidFill>
              <a:srgbClr val="5E6AD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3B61BE-44A6-4D33-9E3F-5BB0B0D21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457575"/>
            <a:ext cx="1238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75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80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Memory</a:t>
            </a:r>
          </a:p>
          <a:p xmlns:a="http://schemas.openxmlformats.org/drawingml/2006/main">
            <a:pPr algn="ctr">
              <a:defRPr sz="180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80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长期上下文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2F5015-6411-49D8-A86F-442B36985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571875"/>
            <a:ext cx="6667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E6AD2"/>
          </a:solidFill>
          <a:ln xmlns:a="http://schemas.openxmlformats.org/drawingml/2006/main" w="0">
            <a:solidFill>
              <a:srgbClr val="5E6AD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40BC6F-B51D-4333-9405-56AB02C7B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028950"/>
            <a:ext cx="2038350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141516"/>
          </a:solidFill>
          <a:ln xmlns:a="http://schemas.openxmlformats.org/drawingml/2006/main" w="9525">
            <a:solidFill>
              <a:srgbClr val="5E6AD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EE0A5E-F6BA-4FCA-B350-9FC60752F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409950"/>
            <a:ext cx="1333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976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828FFF"/>
                </a:solidFill>
                <a:latin typeface="SF Pro Display"/>
                <a:ea typeface="SF Pro Display"/>
                <a:cs typeface="SF Pro Display"/>
              </a:defRPr>
            </a:pPr>
            <a:r>
              <a:rPr sz="2100" b="1">
                <a:solidFill>
                  <a:srgbClr val="828FFF"/>
                </a:solidFill>
                <a:latin typeface="SF Pro Display"/>
                <a:ea typeface="SF Pro Display"/>
                <a:cs typeface="SF Pro Display"/>
              </a:rPr>
              <a:t>Keeni AI</a:t>
            </a:r>
          </a:p>
          <a:p xmlns:a="http://schemas.openxmlformats.org/drawingml/2006/main">
            <a:pPr algn="ctr">
              <a:defRPr sz="2100" b="1">
                <a:solidFill>
                  <a:srgbClr val="828FFF"/>
                </a:solidFill>
                <a:latin typeface="SF Pro Display"/>
                <a:ea typeface="SF Pro Display"/>
                <a:cs typeface="SF Pro Display"/>
              </a:defRPr>
            </a:pPr>
            <a:r>
              <a:rPr sz="2100" b="1">
                <a:solidFill>
                  <a:srgbClr val="828FFF"/>
                </a:solidFill>
                <a:latin typeface="SF Pro Display"/>
                <a:ea typeface="SF Pro Display"/>
                <a:cs typeface="SF Pro Display"/>
              </a:rPr>
              <a:t>Agent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0C50E9-379B-465E-B5C0-73443306C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571875"/>
            <a:ext cx="6667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E6AD2"/>
          </a:solidFill>
          <a:ln xmlns:a="http://schemas.openxmlformats.org/drawingml/2006/main" w="0">
            <a:solidFill>
              <a:srgbClr val="5E6AD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DB82BC-7718-4659-83A2-8CC98BCA6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3200400"/>
            <a:ext cx="16192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141516"/>
          </a:solidFill>
          <a:ln xmlns:a="http://schemas.openxmlformats.org/drawingml/2006/main" w="9525">
            <a:solidFill>
              <a:srgbClr val="5E6AD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A2EBE3-708D-4F54-A646-3C1CB9462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457575"/>
            <a:ext cx="1085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537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725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Workflow</a:t>
            </a:r>
          </a:p>
          <a:p xmlns:a="http://schemas.openxmlformats.org/drawingml/2006/main">
            <a:pPr algn="ctr">
              <a:defRPr sz="1725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725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治理与动作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FF4310-31B4-46E3-B40D-BF942014C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219700"/>
            <a:ext cx="962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80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同一个客户问题可以被理解、取证、记忆、执行、升级，并把结果沉淀回知识和流程。</a:t>
            </a:r>
          </a:p>
        </p:txBody>
      </p:sp>
    </p:spTree>
    <p:extLst>
      <p:ext uri="{BB962C8B-B14F-4D97-AF65-F5344CB8AC3E}">
        <p14:creationId xmlns:p14="http://schemas.microsoft.com/office/powerpoint/2010/main" val="83417716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1010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288F7C2-0F56-4940-80F8-CEF8CD573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3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KeenAI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E60836-E110-4852-AD6B-C7ED31E31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952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97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3C2060-353D-4A0D-9E20-E7A45DC9C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29527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2666D"/>
                </a:solidFill>
                <a:latin typeface="SF Pro Display"/>
                <a:ea typeface="SF Pro Display"/>
                <a:cs typeface="SF Pro Display"/>
              </a:defRPr>
            </a:pPr>
            <a:r>
              <a:rPr sz="975" b="0">
                <a:solidFill>
                  <a:srgbClr val="62666D"/>
                </a:solidFill>
                <a:latin typeface="SF Pro Display"/>
                <a:ea typeface="SF Pro Display"/>
                <a:cs typeface="SF Pro Display"/>
              </a:rPr>
              <a:t>16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B82C12-FB3A-4C1D-9A2A-B90566486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252A"/>
          </a:solidFill>
          <a:ln xmlns:a="http://schemas.openxmlformats.org/drawingml/2006/main" w="0">
            <a:solidFill>
              <a:srgbClr val="23252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1332A8-4BAC-48AF-AA9E-98B54883C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9906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31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技术方案兼顾开箱自托管、企业扩展和 AI 可替换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680A6C-2E4D-4479-9E35-F0602D310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33600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50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TypeScript 全栈降低交付复杂度，双数据库后端覆盖轻量自托管和生产级部署。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E9DB04-75A8-4AFE-A1BA-B65938F89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33337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141516"/>
          </a:solidFill>
          <a:ln xmlns:a="http://schemas.openxmlformats.org/drawingml/2006/main" w="9525">
            <a:solidFill>
              <a:srgbClr val="5E6AD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02BFE3-AD17-4934-AFCE-76F9ABFA7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28575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6AD2"/>
          </a:solidFill>
          <a:ln xmlns:a="http://schemas.openxmlformats.org/drawingml/2006/main" w="0">
            <a:solidFill>
              <a:srgbClr val="5E6AD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0357A8-DF57-4E7D-9A10-77C3D9410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04800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Frontend &amp; Channels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92ACEA-2CF7-43C2-8989-94BF3CD57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86150"/>
            <a:ext cx="29146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rPr>
              <a:t>Next.js Dashboard / Portal / Help Center；Preact Widget；WebSocket / SSE 实时体验。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AD861D-3823-4BAE-B18C-483E57993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857500"/>
            <a:ext cx="33337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F1011"/>
          </a:solidFill>
          <a:ln xmlns:a="http://schemas.openxmlformats.org/drawingml/2006/main" w="9525">
            <a:solidFill>
              <a:srgbClr val="23252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FAEA95-F7E9-429E-87A6-252168E89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04800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Service &amp; Storage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40B9CE-66AE-497B-B123-9ABB47D67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486150"/>
            <a:ext cx="29146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9441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rPr>
              <a:t>Hono + Bun / Node；Drizzle；PostgreSQL + pgvector 或 SQLite / LibSQL；S3 / MinIO。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615C07-AFF8-4C60-9006-54479C812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857500"/>
            <a:ext cx="33337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0F1011"/>
          </a:solidFill>
          <a:ln xmlns:a="http://schemas.openxmlformats.org/drawingml/2006/main" w="9525">
            <a:solidFill>
              <a:srgbClr val="23252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FE85E4-DBEA-444B-8F05-31112AB7B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AI &amp; Automation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1EC08D-0299-4515-ABBE-1181E51BD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486150"/>
            <a:ext cx="29146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rPr>
              <a:t>Vercel AI SDK；Mastra Agent；RAG；Memory；Inngest Workflow；BullMQ 队列。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0FAC4E-81EA-444B-AB9B-9CA7FE0C4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76800"/>
            <a:ext cx="238125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0F1011"/>
          </a:solidFill>
          <a:ln xmlns:a="http://schemas.openxmlformats.org/drawingml/2006/main" w="9525">
            <a:solidFill>
              <a:srgbClr val="23252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73A22D-2B8F-4DF0-AE16-52F497BA3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48250"/>
            <a:ext cx="1962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828FFF"/>
                </a:solidFill>
                <a:latin typeface="SF Pro Display"/>
                <a:ea typeface="SF Pro Display"/>
                <a:cs typeface="SF Pro Display"/>
              </a:defRPr>
            </a:pPr>
            <a:r>
              <a:rPr sz="2700" b="1">
                <a:solidFill>
                  <a:srgbClr val="828FFF"/>
                </a:solidFill>
                <a:latin typeface="SF Pro Display"/>
                <a:ea typeface="SF Pro Display"/>
                <a:cs typeface="SF Pro Display"/>
              </a:rPr>
              <a:t>Lite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F98B98-E6E2-4DF7-8381-13BF3ED70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00700"/>
            <a:ext cx="1962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单机 Docker / SQLite，适合 Indie、Demo 和低成本自托管。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AE9AFA-F37F-43F0-B897-D2B6E247F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876800"/>
            <a:ext cx="238125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0F1011"/>
          </a:solidFill>
          <a:ln xmlns:a="http://schemas.openxmlformats.org/drawingml/2006/main" w="9525">
            <a:solidFill>
              <a:srgbClr val="23252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214D279-A92D-4F64-B2EB-FC58BD268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048250"/>
            <a:ext cx="1962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828FFF"/>
                </a:solidFill>
                <a:latin typeface="SF Pro Display"/>
                <a:ea typeface="SF Pro Display"/>
                <a:cs typeface="SF Pro Display"/>
              </a:defRPr>
            </a:pPr>
            <a:r>
              <a:rPr sz="2700" b="1">
                <a:solidFill>
                  <a:srgbClr val="828FFF"/>
                </a:solidFill>
                <a:latin typeface="SF Pro Display"/>
                <a:ea typeface="SF Pro Display"/>
                <a:cs typeface="SF Pro Display"/>
              </a:rPr>
              <a:t>Standard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171EF92-F189-4747-91CE-19F8DCBE4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600700"/>
            <a:ext cx="1962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PostgreSQL + Redis + MinIO，适合中小团队生产部署。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053B97D-83C5-4E1F-AAD9-A3557DE10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876800"/>
            <a:ext cx="238125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0F1011"/>
          </a:solidFill>
          <a:ln xmlns:a="http://schemas.openxmlformats.org/drawingml/2006/main" w="9525">
            <a:solidFill>
              <a:srgbClr val="23252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6A224A7-C087-49BD-A956-30E9A20A3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048250"/>
            <a:ext cx="1962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828FFF"/>
                </a:solidFill>
                <a:latin typeface="SF Pro Display"/>
                <a:ea typeface="SF Pro Display"/>
                <a:cs typeface="SF Pro Display"/>
              </a:defRPr>
            </a:pPr>
            <a:r>
              <a:rPr sz="2700" b="1">
                <a:solidFill>
                  <a:srgbClr val="828FFF"/>
                </a:solidFill>
                <a:latin typeface="SF Pro Display"/>
                <a:ea typeface="SF Pro Display"/>
                <a:cs typeface="SF Pro Display"/>
              </a:rPr>
              <a:t>Cloud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D7D40FD-9E6E-4CCD-877B-C3A5F3ADB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600700"/>
            <a:ext cx="1962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Vercel / Cloudflare / managed PG，适合托管 SaaS。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D235AE2-EE46-4B18-8F71-BA3ED7E04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876800"/>
            <a:ext cx="238125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0F1011"/>
          </a:solidFill>
          <a:ln xmlns:a="http://schemas.openxmlformats.org/drawingml/2006/main" w="9525">
            <a:solidFill>
              <a:srgbClr val="23252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772E5CC-3ED6-4561-8468-E01EE258B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5048250"/>
            <a:ext cx="1962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28FFF"/>
                </a:solidFill>
                <a:latin typeface="SF Pro Display"/>
                <a:ea typeface="SF Pro Display"/>
                <a:cs typeface="SF Pro Display"/>
              </a:defRPr>
            </a:pPr>
            <a:r>
              <a:rPr sz="2250" b="1">
                <a:solidFill>
                  <a:srgbClr val="828FFF"/>
                </a:solidFill>
                <a:latin typeface="SF Pro Display"/>
                <a:ea typeface="SF Pro Display"/>
                <a:cs typeface="SF Pro Display"/>
              </a:rPr>
              <a:t>Enterprise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03F2B98-EE14-48EC-B8DC-B1823C932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5600700"/>
            <a:ext cx="1962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私有化、SSO、审计、SLA、本地模型和内网集成。</a:t>
            </a:r>
          </a:p>
        </p:txBody>
      </p:sp>
    </p:spTree>
    <p:extLst>
      <p:ext uri="{BB962C8B-B14F-4D97-AF65-F5344CB8AC3E}">
        <p14:creationId xmlns:p14="http://schemas.microsoft.com/office/powerpoint/2010/main" val="102673217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1010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645104A-35A4-4D04-A3CE-9FFE3B154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3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KeenAI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7E8A87-D01F-4F9B-854E-A167BFF1C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952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975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Business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87C349-5007-4F40-AEF7-049997A66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29527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2666D"/>
                </a:solidFill>
                <a:latin typeface="SF Pro Display"/>
                <a:ea typeface="SF Pro Display"/>
                <a:cs typeface="SF Pro Display"/>
              </a:defRPr>
            </a:pPr>
            <a:r>
              <a:rPr sz="975" b="0">
                <a:solidFill>
                  <a:srgbClr val="62666D"/>
                </a:solidFill>
                <a:latin typeface="SF Pro Display"/>
                <a:ea typeface="SF Pro Display"/>
                <a:cs typeface="SF Pro Display"/>
              </a:rPr>
              <a:t>17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C1B33E-8889-4788-917B-71DE75E8A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252A"/>
          </a:solidFill>
          <a:ln xmlns:a="http://schemas.openxmlformats.org/drawingml/2006/main" w="0">
            <a:solidFill>
              <a:srgbClr val="23252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BD7C8E-5DBB-4A08-9173-C3EF14C71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9906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31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开源获客，云托管和企业私有化完成商业化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586763-7982-4408-8E3A-521A502BD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33600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50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KeenAI 以开源降低试用门槛，用企业级 AI、私有化和托管服务变现。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662C8F-C45F-4152-8DCE-EA255A079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0350"/>
            <a:ext cx="51435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41516"/>
          </a:solidFill>
          <a:ln xmlns:a="http://schemas.openxmlformats.org/drawingml/2006/main" w="9525">
            <a:solidFill>
              <a:srgbClr val="5E6AD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646826-2C75-49F6-BE1E-F66B2620F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0350"/>
            <a:ext cx="285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6AD2"/>
          </a:solidFill>
          <a:ln xmlns:a="http://schemas.openxmlformats.org/drawingml/2006/main" w="0">
            <a:solidFill>
              <a:srgbClr val="5E6AD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6F08AB-5C3F-4183-A830-B5C66C51D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商业模式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15CEA6-65D4-4C64-9D84-5D604BC2D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29000"/>
            <a:ext cx="4724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rPr>
              <a:t>自托管 AGPL 免费获取社区和企业线索；云托管按 seat / AI 用量收费；企业版提供私有化、SSO、审计和 SLA。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0E5124-725D-499F-9FD6-009D57242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00350"/>
            <a:ext cx="51435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0F1011"/>
          </a:solidFill>
          <a:ln xmlns:a="http://schemas.openxmlformats.org/drawingml/2006/main" w="9525">
            <a:solidFill>
              <a:srgbClr val="23252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846160-6644-4574-9D7B-B91478E54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99085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65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GTM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25205B-1F77-4F61-B706-ACD2146F8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429000"/>
            <a:ext cx="4724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0">
                <a:solidFill>
                  <a:srgbClr val="D0D6E0"/>
                </a:solidFill>
                <a:latin typeface="SF Pro Display"/>
                <a:ea typeface="SF Pro Display"/>
                <a:cs typeface="SF Pro Display"/>
              </a:rPr>
              <a:t>先抓开发者和 Indie Hacker，再进入中小 SaaS 团队，最后用私有化方案切企业内部 IT / DevTool。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5B096C-723D-4843-BC10-B677F9FBE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0540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343A"/>
          </a:solidFill>
          <a:ln xmlns:a="http://schemas.openxmlformats.org/drawingml/2006/main" w="0">
            <a:solidFill>
              <a:srgbClr val="34343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BA662A-0443-4DDC-A67E-37C2B2DBA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E6AD2"/>
          </a:solidFill>
          <a:ln xmlns:a="http://schemas.openxmlformats.org/drawingml/2006/main" w="0">
            <a:solidFill>
              <a:srgbClr val="5E6AD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E28326-0B1B-4723-8D1D-3AE0F9483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31495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0-3M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C89AA9-178A-4AB2-84F9-2D1ED51F5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19750"/>
            <a:ext cx="228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05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MVP</a:t>
            </a:r>
          </a:p>
          <a:p xmlns:a="http://schemas.openxmlformats.org/drawingml/2006/main">
            <a:pPr algn="l">
              <a:defRPr sz="105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05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Inbox / Widget / Email / Copilot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E28BEE-17C4-4D8F-B4D7-DFA398397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9911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E6AD2"/>
          </a:solidFill>
          <a:ln xmlns:a="http://schemas.openxmlformats.org/drawingml/2006/main" w="0">
            <a:solidFill>
              <a:srgbClr val="5E6AD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C03E38-DB54-4EDB-9702-46B14165B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531495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3-6M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89490AD-86E1-44DD-AAA7-DDF12EDED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5619750"/>
            <a:ext cx="228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05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Core loop</a:t>
            </a:r>
          </a:p>
          <a:p xmlns:a="http://schemas.openxmlformats.org/drawingml/2006/main">
            <a:pPr algn="l">
              <a:defRPr sz="105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05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Tickets / Workflow / Feedback / Help Center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F723F5C-D5CB-4C19-B0F6-F82983C89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9911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E6AD2"/>
          </a:solidFill>
          <a:ln xmlns:a="http://schemas.openxmlformats.org/drawingml/2006/main" w="0">
            <a:solidFill>
              <a:srgbClr val="5E6AD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43A650C-339D-437F-B648-675926105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531495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6-9M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D27AA0F-3A6B-44D3-998F-D01386FF4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5619750"/>
            <a:ext cx="228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05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AI full</a:t>
            </a:r>
          </a:p>
          <a:p xmlns:a="http://schemas.openxmlformats.org/drawingml/2006/main">
            <a:pPr algn="l">
              <a:defRPr sz="105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05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Agent / Memory / RAG / Roadmap / Changelog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55E2401-B7C2-478C-BD5F-406496CB6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49911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E6AD2"/>
          </a:solidFill>
          <a:ln xmlns:a="http://schemas.openxmlformats.org/drawingml/2006/main" w="0">
            <a:solidFill>
              <a:srgbClr val="5E6AD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805A0A4-0E68-414C-8B5C-F97EB46D6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531495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200" b="1">
                <a:solidFill>
                  <a:srgbClr val="F7F8F8"/>
                </a:solidFill>
                <a:latin typeface="SF Pro Display"/>
                <a:ea typeface="SF Pro Display"/>
                <a:cs typeface="SF Pro Display"/>
              </a:rPr>
              <a:t>9-12M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AAE6A6C-6C6C-4E9C-811A-329402409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5619750"/>
            <a:ext cx="228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05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Commercial</a:t>
            </a:r>
          </a:p>
          <a:p xmlns:a="http://schemas.openxmlformats.org/drawingml/2006/main">
            <a:pPr algn="l">
              <a:defRPr sz="105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defRPr>
            </a:pPr>
            <a:r>
              <a:rPr sz="1050" b="0">
                <a:solidFill>
                  <a:srgbClr val="8A8F98"/>
                </a:solidFill>
                <a:latin typeface="SF Pro Display"/>
                <a:ea typeface="SF Pro Display"/>
                <a:cs typeface="SF Pro Display"/>
              </a:rPr>
              <a:t>Enterprise / Cloud / Plugin ecosystem</a:t>
            </a:r>
          </a:p>
        </p:txBody>
      </p:sp>
    </p:spTree>
    <p:extLst>
      <p:ext uri="{BB962C8B-B14F-4D97-AF65-F5344CB8AC3E}">
        <p14:creationId xmlns:p14="http://schemas.microsoft.com/office/powerpoint/2010/main" val="97836422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2026-07-26T04:43:57.6280000Z</dcterms:created>
  <dcterms:modified xsi:type="dcterms:W3CDTF">2026-07-26T04:43:57.6280000Z</dcterms:modified>
</coreProperties>
</file>