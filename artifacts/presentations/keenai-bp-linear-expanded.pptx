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5" r:id="rId5"/>
    <p:sldId id="27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93" r:id="rId20"/>
    <p:sldId id="270" r:id="rId21"/>
    <p:sldId id="271" r:id="rId22"/>
    <p:sldId id="272" r:id="rId23"/>
    <p:sldId id="297" r:id="rId2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README.md §1 Vision; docs/01-PRD.md §1 Product overview; artifacts/presentations/linear.DESIGN.md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README.md §1 Vision; docs/01-PRD.md §1 Product overview; artifacts/presentations/linear.DESIGN.md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README.md §1 Vision; docs/01-PRD.md §1 Product overview; artifacts/presentations/linear.DESIGN.md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docs/01-PRD.md §1.3; docs/01-PRD.md §8; README.md §1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docs/01-PRD.md §2 Target users; docs/01-PRD.md §4 Commercial goals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README.md §2 Product Matrix; docs/04-MODULES.md Module overview; docs/03-ARCHITECTURE.md §1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docs/02-FEATURES.md §1.2 Channels; docs/14-MULTIMODAL.md; README.md §2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docs/09-AGENT-ENGINE.md; docs/04-MODULES.md §1.6 LLM; README.md §4.2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docs/09-AGENT-ENGINE.md; docs/10-AGENT-MEMORY.md; docs/11-RAG-KNOWLEDGE.md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docs/11-RAG-KNOWLEDGE.md; docs/KB-DOCUMENT-PARSERS.md; packages/kb/config/kb-freshness.yaml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docs/11-RAG-KNOWLEDGE.md; docs/11-RAG-OPTIMIZATION.md; docs/12-STORAGE-ABSTRACTION.md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docs/10-AGENT-MEMORY.md; docs/15-MEMORY-TREE.md; packages/memory/src/layers.ts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docs/10-AGENT-MEMORY.md; docs/15-MEMORY-TREE.md; packages/memory/src/processors/pipeline.ts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docs/13-WORKFLOW.md; docs/02-FEATURES.md §1.5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docs/13-WORKFLOW.md §4.1 Block overview; docs/02-FEATURES.md §1.5 Action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docs/13-WORKFLOW.md §4 Action Block; docs/01-PRD.md §3 Scenario B; docs/02-FEATURES.md §1.5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docs/13-WORKFLOW.md §4 Action Block; docs/01-PRD.md §3 Scenario B; docs/02-FEATURES.md §1.5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docs/04-MODULES.md AI Kernel; docs/09-AGENT-ENGINE.md; docs/10-AGENT-MEMORY.md; docs/11-RAG-KNOWLEDGE.md; docs/13-WORKFLOW.md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README.md §3 Tech Stack; docs/03-ARCHITECTURE.md; docs/06-TECH-STACK.md; docs/12-STORAGE-ABSTRACTION.md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docs/01-PRD.md §4 Commercial goals; docs/08-ROADMAP.md; README.md §7 Roadmap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docs/01-PRD.md §4 Commercial goals; docs/08-ROADMAP.md; README.md §7 Roadmap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52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573" y="6459321"/>
            <a:ext cx="1429124" cy="34137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image" Target="../media/image3.png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1" Type="http://schemas.openxmlformats.org/officeDocument/2006/relationships/notesSlide" Target="../notesSlides/notesSlide3.xml"/><Relationship Id="rId30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9" Type="http://schemas.openxmlformats.org/officeDocument/2006/relationships/image" Target="../media/image7.png"/><Relationship Id="rId28" Type="http://schemas.openxmlformats.org/officeDocument/2006/relationships/image" Target="../media/image6.png"/><Relationship Id="rId27" Type="http://schemas.openxmlformats.org/officeDocument/2006/relationships/tags" Target="../tags/tag38.xml"/><Relationship Id="rId26" Type="http://schemas.openxmlformats.org/officeDocument/2006/relationships/tags" Target="../tags/tag37.xml"/><Relationship Id="rId25" Type="http://schemas.openxmlformats.org/officeDocument/2006/relationships/tags" Target="../tags/tag36.xml"/><Relationship Id="rId24" Type="http://schemas.openxmlformats.org/officeDocument/2006/relationships/tags" Target="../tags/tag35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tags" Target="../tags/tag17.xml"/><Relationship Id="rId19" Type="http://schemas.openxmlformats.org/officeDocument/2006/relationships/tags" Target="../tags/tag30.xml"/><Relationship Id="rId18" Type="http://schemas.openxmlformats.org/officeDocument/2006/relationships/image" Target="../media/image5.png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image" Target="../media/image4.png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52450" y="4572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8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0" y="5143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19"/>
          </a:bodyPr>
          <a:lstStyle/>
          <a:p>
            <a:pPr algn="r">
              <a:def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AI-native support operating system</a:t>
            </a:r>
            <a:endParaRPr sz="105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2038350"/>
            <a:ext cx="10446385" cy="15386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2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42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开源、AI 原生、可私有化部署的</a:t>
            </a:r>
            <a:r>
              <a:rPr lang="zh-CN" sz="42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智能</a:t>
            </a:r>
            <a:r>
              <a:rPr lang="zh-CN" sz="42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客服</a:t>
            </a:r>
            <a:endParaRPr lang="zh-CN" sz="42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394335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统一多端入口、知识库、Keeni AI Agent、Memory、Workflow、工单和反馈闭环。</a:t>
            </a:r>
            <a:endParaRPr sz="165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90550" y="5334000"/>
            <a:ext cx="9660890" cy="457200"/>
          </a:xfrm>
          <a:prstGeom prst="roundRect">
            <a:avLst>
              <a:gd name="adj" fmla="val 16667"/>
            </a:avLst>
          </a:prstGeom>
          <a:solidFill>
            <a:srgbClr val="5E6AD2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12800" y="5429250"/>
            <a:ext cx="7084060" cy="3613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https://github.com/2456868764/KeenA</a:t>
            </a:r>
            <a:r>
              <a:rPr lang="en-US" sz="120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I</a:t>
            </a:r>
            <a:endParaRPr sz="1200" b="1">
              <a:solidFill>
                <a:srgbClr val="FFF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0" y="62865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/>
          </a:bodyPr>
          <a:lstStyle/>
          <a:p>
            <a:pPr algn="r">
              <a:defRPr sz="900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00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Linear style via getdesign.md</a:t>
            </a:r>
            <a:endParaRPr sz="900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52450" y="4572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8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0" y="5143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19"/>
          </a:bodyPr>
          <a:lstStyle/>
          <a:p>
            <a:pPr algn="r">
              <a:def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AI-native support operating system</a:t>
            </a:r>
            <a:endParaRPr sz="105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0" y="62865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 lnSpcReduction="10000"/>
          </a:bodyPr>
          <a:lstStyle/>
          <a:p>
            <a:pPr algn="r">
              <a:defRPr sz="900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00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Linear style via getdesign.md</a:t>
            </a:r>
            <a:endParaRPr sz="900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5" name="Shape 0"/>
          <p:cNvSpPr/>
          <p:nvPr>
            <p:custDataLst>
              <p:tags r:id="rId1"/>
            </p:custDataLst>
          </p:nvPr>
        </p:nvSpPr>
        <p:spPr>
          <a:xfrm>
            <a:off x="661492" y="1810247"/>
            <a:ext cx="10869017" cy="2722364"/>
          </a:xfrm>
          <a:prstGeom prst="roundRect">
            <a:avLst>
              <a:gd name="adj" fmla="val 291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6" name="Shape 1"/>
          <p:cNvSpPr/>
          <p:nvPr>
            <p:custDataLst>
              <p:tags r:id="rId2"/>
            </p:custDataLst>
          </p:nvPr>
        </p:nvSpPr>
        <p:spPr>
          <a:xfrm>
            <a:off x="667841" y="1816596"/>
            <a:ext cx="10856317" cy="54193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37" name="Text 2"/>
          <p:cNvSpPr/>
          <p:nvPr>
            <p:custDataLst>
              <p:tags r:id="rId3"/>
            </p:custDataLst>
          </p:nvPr>
        </p:nvSpPr>
        <p:spPr>
          <a:xfrm>
            <a:off x="856952" y="1936353"/>
            <a:ext cx="14876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ct val="133000"/>
              </a:lnSpc>
              <a:buNone/>
            </a:pPr>
            <a:endParaRPr lang="en-US" sz="1465" dirty="0"/>
          </a:p>
        </p:txBody>
      </p:sp>
      <p:sp>
        <p:nvSpPr>
          <p:cNvPr id="38" name="Text 3"/>
          <p:cNvSpPr/>
          <p:nvPr>
            <p:custDataLst>
              <p:tags r:id="rId4"/>
            </p:custDataLst>
          </p:nvPr>
        </p:nvSpPr>
        <p:spPr>
          <a:xfrm>
            <a:off x="2119412" y="1936353"/>
            <a:ext cx="982533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ct val="133000"/>
              </a:lnSpc>
              <a:buNone/>
            </a:pPr>
            <a:endParaRPr lang="en-US" sz="1465" dirty="0"/>
          </a:p>
        </p:txBody>
      </p:sp>
      <p:sp>
        <p:nvSpPr>
          <p:cNvPr id="39" name="Text 5"/>
          <p:cNvSpPr/>
          <p:nvPr>
            <p:custDataLst>
              <p:tags r:id="rId5"/>
            </p:custDataLst>
          </p:nvPr>
        </p:nvSpPr>
        <p:spPr>
          <a:xfrm>
            <a:off x="856952" y="2478285"/>
            <a:ext cx="14876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ct val="133000"/>
              </a:lnSpc>
              <a:buNone/>
            </a:pPr>
            <a:r>
              <a:rPr lang="zh-CN" altLang="en-US" sz="1465" b="1" kern="0" spc="-2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姓名</a:t>
            </a:r>
            <a:endParaRPr lang="zh-CN" sz="1465" dirty="0"/>
          </a:p>
        </p:txBody>
      </p:sp>
      <p:sp>
        <p:nvSpPr>
          <p:cNvPr id="40" name="Text 6"/>
          <p:cNvSpPr/>
          <p:nvPr>
            <p:custDataLst>
              <p:tags r:id="rId6"/>
            </p:custDataLst>
          </p:nvPr>
        </p:nvSpPr>
        <p:spPr>
          <a:xfrm>
            <a:off x="2119412" y="2478285"/>
            <a:ext cx="982533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ct val="133000"/>
              </a:lnSpc>
              <a:buNone/>
            </a:pPr>
            <a:r>
              <a:rPr lang="zh-CN" altLang="en-US" sz="1465" kern="0" spc="-22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吴新军</a:t>
            </a:r>
            <a:endParaRPr lang="zh-CN" sz="1465" dirty="0"/>
          </a:p>
        </p:txBody>
      </p:sp>
      <p:sp>
        <p:nvSpPr>
          <p:cNvPr id="41" name="Shape 7"/>
          <p:cNvSpPr/>
          <p:nvPr>
            <p:custDataLst>
              <p:tags r:id="rId7"/>
            </p:custDataLst>
          </p:nvPr>
        </p:nvSpPr>
        <p:spPr>
          <a:xfrm>
            <a:off x="667841" y="2900461"/>
            <a:ext cx="10856317" cy="54193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42" name="Text 8"/>
          <p:cNvSpPr/>
          <p:nvPr>
            <p:custDataLst>
              <p:tags r:id="rId8"/>
            </p:custDataLst>
          </p:nvPr>
        </p:nvSpPr>
        <p:spPr>
          <a:xfrm>
            <a:off x="856952" y="3020219"/>
            <a:ext cx="14876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ct val="133000"/>
              </a:lnSpc>
              <a:buNone/>
            </a:pPr>
            <a:r>
              <a:rPr lang="zh-CN" altLang="en-US" sz="1465" b="1" kern="0" spc="-2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身份</a:t>
            </a:r>
            <a:endParaRPr lang="zh-CN" sz="1465" dirty="0"/>
          </a:p>
        </p:txBody>
      </p:sp>
      <p:sp>
        <p:nvSpPr>
          <p:cNvPr id="43" name="Text 9"/>
          <p:cNvSpPr/>
          <p:nvPr>
            <p:custDataLst>
              <p:tags r:id="rId9"/>
            </p:custDataLst>
          </p:nvPr>
        </p:nvSpPr>
        <p:spPr>
          <a:xfrm>
            <a:off x="2119412" y="3020219"/>
            <a:ext cx="982533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ct val="133000"/>
              </a:lnSpc>
              <a:buNone/>
            </a:pPr>
            <a:r>
              <a:rPr lang="zh-CN" altLang="en-US" sz="1465" kern="0" spc="-22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独立创始人 · 全栈工程师 · Higress 网关 Maintainers</a:t>
            </a:r>
            <a:endParaRPr lang="zh-CN" altLang="en-US" sz="1465" kern="0" spc="-22" dirty="0">
              <a:solidFill>
                <a:srgbClr val="E5E0DF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44" name="Shape 10"/>
          <p:cNvSpPr/>
          <p:nvPr>
            <p:custDataLst>
              <p:tags r:id="rId10"/>
            </p:custDataLst>
          </p:nvPr>
        </p:nvSpPr>
        <p:spPr>
          <a:xfrm>
            <a:off x="667841" y="3442395"/>
            <a:ext cx="10856317" cy="54193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45" name="Text 11"/>
          <p:cNvSpPr/>
          <p:nvPr>
            <p:custDataLst>
              <p:tags r:id="rId11"/>
            </p:custDataLst>
          </p:nvPr>
        </p:nvSpPr>
        <p:spPr>
          <a:xfrm>
            <a:off x="856952" y="3562152"/>
            <a:ext cx="14876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ct val="133000"/>
              </a:lnSpc>
              <a:buNone/>
            </a:pPr>
            <a:r>
              <a:rPr lang="zh-CN" altLang="en-US" sz="1465" b="1" kern="0" spc="-2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所属</a:t>
            </a:r>
            <a:endParaRPr lang="zh-CN" sz="1465" dirty="0"/>
          </a:p>
        </p:txBody>
      </p:sp>
      <p:sp>
        <p:nvSpPr>
          <p:cNvPr id="46" name="Text 12"/>
          <p:cNvSpPr/>
          <p:nvPr>
            <p:custDataLst>
              <p:tags r:id="rId12"/>
            </p:custDataLst>
          </p:nvPr>
        </p:nvSpPr>
        <p:spPr>
          <a:xfrm>
            <a:off x="2119412" y="3562152"/>
            <a:ext cx="982533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ct val="133000"/>
              </a:lnSpc>
              <a:buNone/>
            </a:pPr>
            <a:r>
              <a:rPr lang="zh-CN" altLang="en-US" sz="1465" kern="0" spc="-22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OPC / 上海原点视界信息科技有限公司（Shorigin）</a:t>
            </a:r>
            <a:endParaRPr lang="zh-CN" sz="1465" dirty="0"/>
          </a:p>
        </p:txBody>
      </p:sp>
      <p:sp>
        <p:nvSpPr>
          <p:cNvPr id="47" name="Shape 13"/>
          <p:cNvSpPr/>
          <p:nvPr>
            <p:custDataLst>
              <p:tags r:id="rId13"/>
            </p:custDataLst>
          </p:nvPr>
        </p:nvSpPr>
        <p:spPr>
          <a:xfrm>
            <a:off x="667841" y="3984328"/>
            <a:ext cx="10856317" cy="54193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48" name="Text 14"/>
          <p:cNvSpPr/>
          <p:nvPr>
            <p:custDataLst>
              <p:tags r:id="rId14"/>
            </p:custDataLst>
          </p:nvPr>
        </p:nvSpPr>
        <p:spPr>
          <a:xfrm>
            <a:off x="856952" y="4104084"/>
            <a:ext cx="148768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ct val="133000"/>
              </a:lnSpc>
              <a:buNone/>
            </a:pPr>
            <a:r>
              <a:rPr lang="zh-CN" altLang="en-US" sz="1465" b="1" kern="0" spc="-2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核心能力</a:t>
            </a:r>
            <a:endParaRPr lang="zh-CN" sz="1465" dirty="0"/>
          </a:p>
        </p:txBody>
      </p:sp>
      <p:sp>
        <p:nvSpPr>
          <p:cNvPr id="49" name="Text 15"/>
          <p:cNvSpPr/>
          <p:nvPr>
            <p:custDataLst>
              <p:tags r:id="rId15"/>
            </p:custDataLst>
          </p:nvPr>
        </p:nvSpPr>
        <p:spPr>
          <a:xfrm>
            <a:off x="2119412" y="4104084"/>
            <a:ext cx="982533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ct val="133000"/>
              </a:lnSpc>
              <a:buNone/>
            </a:pPr>
            <a:r>
              <a:rPr lang="zh-CN" altLang="en-US" sz="1465" kern="0" spc="-22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AI 应用开发  · 产品从 0 到 1</a:t>
            </a:r>
            <a:endParaRPr lang="zh-CN" sz="146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52450" y="4572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8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0" y="5143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19"/>
          </a:bodyPr>
          <a:lstStyle/>
          <a:p>
            <a:pPr algn="r">
              <a:def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AI-native support operating system</a:t>
            </a:r>
            <a:endParaRPr sz="105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0" y="62865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 lnSpcReduction="10000"/>
          </a:bodyPr>
          <a:lstStyle/>
          <a:p>
            <a:pPr algn="r">
              <a:defRPr sz="900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00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Linear style via getdesign.md</a:t>
            </a:r>
            <a:endParaRPr sz="900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Text 0"/>
          <p:cNvSpPr/>
          <p:nvPr>
            <p:custDataLst>
              <p:tags r:id="rId1"/>
            </p:custDataLst>
          </p:nvPr>
        </p:nvSpPr>
        <p:spPr>
          <a:xfrm>
            <a:off x="1874704" y="2089512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04000"/>
              </a:lnSpc>
              <a:buNone/>
            </a:pPr>
            <a:r>
              <a:rPr lang="en-US" altLang="zh-CN" sz="2750" b="1" kern="0" spc="-84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O</a:t>
            </a:r>
            <a:r>
              <a:rPr lang="zh-CN" altLang="en-US" sz="2750" b="1" kern="0" spc="-84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rigin Horizon</a:t>
            </a:r>
            <a:endParaRPr lang="zh-CN" altLang="en-US" sz="2750" b="1" kern="0" spc="-84" dirty="0">
              <a:solidFill>
                <a:srgbClr val="FFFFFF"/>
              </a:solidFill>
              <a:latin typeface="Inter Bold" panose="02000503000000020004" pitchFamily="34" charset="0"/>
              <a:ea typeface="Inter Bold" panose="02000503000000020004" pitchFamily="34" charset="-122"/>
              <a:cs typeface="Inter Bold" panose="02000503000000020004" pitchFamily="34" charset="-12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46007" y="3167375"/>
            <a:ext cx="654918" cy="654918"/>
          </a:xfrm>
          <a:prstGeom prst="rect">
            <a:avLst/>
          </a:prstGeom>
        </p:spPr>
      </p:pic>
      <p:sp>
        <p:nvSpPr>
          <p:cNvPr id="5" name="Text 2"/>
          <p:cNvSpPr/>
          <p:nvPr>
            <p:custDataLst>
              <p:tags r:id="rId4"/>
            </p:custDataLst>
          </p:nvPr>
        </p:nvSpPr>
        <p:spPr>
          <a:xfrm>
            <a:off x="1129214" y="3999473"/>
            <a:ext cx="148857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CompeteHub</a:t>
            </a:r>
            <a:endParaRPr lang="en-US" sz="1350" dirty="0"/>
          </a:p>
        </p:txBody>
      </p:sp>
      <p:sp>
        <p:nvSpPr>
          <p:cNvPr id="6" name="Text 3"/>
          <p:cNvSpPr/>
          <p:nvPr>
            <p:custDataLst>
              <p:tags r:id="rId5"/>
            </p:custDataLst>
          </p:nvPr>
        </p:nvSpPr>
        <p:spPr>
          <a:xfrm>
            <a:off x="1129214" y="4277633"/>
            <a:ext cx="148857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AI赛事通</a:t>
            </a:r>
            <a:endParaRPr lang="zh-CN" sz="1350" dirty="0"/>
          </a:p>
        </p:txBody>
      </p:sp>
      <p:sp>
        <p:nvSpPr>
          <p:cNvPr id="9" name="Text 4"/>
          <p:cNvSpPr/>
          <p:nvPr>
            <p:custDataLst>
              <p:tags r:id="rId6"/>
            </p:custDataLst>
          </p:nvPr>
        </p:nvSpPr>
        <p:spPr>
          <a:xfrm>
            <a:off x="1129214" y="4584144"/>
            <a:ext cx="1488579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33000"/>
              </a:lnSpc>
              <a:buNone/>
            </a:pPr>
            <a:r>
              <a:rPr lang="zh-CN" altLang="en-US" sz="1100" kern="0" spc="-22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全球赛事和黑客松</a:t>
            </a:r>
            <a:r>
              <a:rPr lang="zh-CN" altLang="en-US" sz="1100" kern="0" spc="-22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社区</a:t>
            </a:r>
            <a:endParaRPr lang="zh-CN" altLang="en-US" sz="1100" kern="0" spc="-22" dirty="0">
              <a:solidFill>
                <a:srgbClr val="E5E0DF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211766" y="3167375"/>
            <a:ext cx="654918" cy="654918"/>
          </a:xfrm>
          <a:prstGeom prst="rect">
            <a:avLst/>
          </a:prstGeom>
        </p:spPr>
      </p:pic>
      <p:sp>
        <p:nvSpPr>
          <p:cNvPr id="11" name="Text 5"/>
          <p:cNvSpPr/>
          <p:nvPr>
            <p:custDataLst>
              <p:tags r:id="rId9"/>
            </p:custDataLst>
          </p:nvPr>
        </p:nvSpPr>
        <p:spPr>
          <a:xfrm>
            <a:off x="2794972" y="3999473"/>
            <a:ext cx="148857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PoutCode </a:t>
            </a:r>
            <a:endParaRPr lang="en-US" sz="1350" dirty="0"/>
          </a:p>
        </p:txBody>
      </p:sp>
      <p:sp>
        <p:nvSpPr>
          <p:cNvPr id="12" name="Text 6"/>
          <p:cNvSpPr/>
          <p:nvPr>
            <p:custDataLst>
              <p:tags r:id="rId10"/>
            </p:custDataLst>
          </p:nvPr>
        </p:nvSpPr>
        <p:spPr>
          <a:xfrm>
            <a:off x="2794972" y="4277633"/>
            <a:ext cx="148857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口红密码</a:t>
            </a:r>
            <a:endParaRPr lang="zh-CN" sz="1350" dirty="0"/>
          </a:p>
        </p:txBody>
      </p:sp>
      <p:sp>
        <p:nvSpPr>
          <p:cNvPr id="13" name="Text 7"/>
          <p:cNvSpPr/>
          <p:nvPr>
            <p:custDataLst>
              <p:tags r:id="rId11"/>
            </p:custDataLst>
          </p:nvPr>
        </p:nvSpPr>
        <p:spPr>
          <a:xfrm>
            <a:off x="2794972" y="4584144"/>
            <a:ext cx="1488579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33000"/>
              </a:lnSpc>
              <a:buNone/>
            </a:pPr>
            <a:r>
              <a:rPr lang="zh-CN" altLang="en-US" sz="1100" kern="0" spc="-22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AI 美妆个性化口红推荐</a:t>
            </a:r>
            <a:endParaRPr lang="zh-CN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877524" y="3167375"/>
            <a:ext cx="654993" cy="654993"/>
          </a:xfrm>
          <a:prstGeom prst="rect">
            <a:avLst/>
          </a:prstGeom>
        </p:spPr>
      </p:pic>
      <p:sp>
        <p:nvSpPr>
          <p:cNvPr id="15" name="Text 8"/>
          <p:cNvSpPr/>
          <p:nvPr>
            <p:custDataLst>
              <p:tags r:id="rId14"/>
            </p:custDataLst>
          </p:nvPr>
        </p:nvSpPr>
        <p:spPr>
          <a:xfrm>
            <a:off x="4460731" y="3999548"/>
            <a:ext cx="148865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AxisCam </a:t>
            </a:r>
            <a:endParaRPr lang="en-US" sz="1350" dirty="0"/>
          </a:p>
        </p:txBody>
      </p:sp>
      <p:sp>
        <p:nvSpPr>
          <p:cNvPr id="16" name="Text 9"/>
          <p:cNvSpPr/>
          <p:nvPr>
            <p:custDataLst>
              <p:tags r:id="rId15"/>
            </p:custDataLst>
          </p:nvPr>
        </p:nvSpPr>
        <p:spPr>
          <a:xfrm>
            <a:off x="4460731" y="4277707"/>
            <a:ext cx="148865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双屏相机</a:t>
            </a:r>
            <a:endParaRPr lang="zh-CN" sz="1350" dirty="0"/>
          </a:p>
        </p:txBody>
      </p:sp>
      <p:sp>
        <p:nvSpPr>
          <p:cNvPr id="17" name="Text 10"/>
          <p:cNvSpPr/>
          <p:nvPr>
            <p:custDataLst>
              <p:tags r:id="rId16"/>
            </p:custDataLst>
          </p:nvPr>
        </p:nvSpPr>
        <p:spPr>
          <a:xfrm>
            <a:off x="4460731" y="4584219"/>
            <a:ext cx="148865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33000"/>
              </a:lnSpc>
              <a:buNone/>
            </a:pPr>
            <a:r>
              <a:rPr lang="zh-CN" altLang="en-US" sz="1100" kern="0" spc="-22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双屏同步拍摄</a:t>
            </a:r>
            <a:endParaRPr lang="zh-CN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6543358" y="3167375"/>
            <a:ext cx="654918" cy="654918"/>
          </a:xfrm>
          <a:prstGeom prst="rect">
            <a:avLst/>
          </a:prstGeom>
        </p:spPr>
      </p:pic>
      <p:sp>
        <p:nvSpPr>
          <p:cNvPr id="19" name="Text 11"/>
          <p:cNvSpPr/>
          <p:nvPr>
            <p:custDataLst>
              <p:tags r:id="rId19"/>
            </p:custDataLst>
          </p:nvPr>
        </p:nvSpPr>
        <p:spPr>
          <a:xfrm>
            <a:off x="6126564" y="3999473"/>
            <a:ext cx="148857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PeriodHere </a:t>
            </a:r>
            <a:endParaRPr lang="en-US" sz="1350" dirty="0"/>
          </a:p>
        </p:txBody>
      </p:sp>
      <p:sp>
        <p:nvSpPr>
          <p:cNvPr id="20" name="Text 12"/>
          <p:cNvSpPr/>
          <p:nvPr>
            <p:custDataLst>
              <p:tags r:id="rId20"/>
            </p:custDataLst>
          </p:nvPr>
        </p:nvSpPr>
        <p:spPr>
          <a:xfrm>
            <a:off x="6126564" y="4277633"/>
            <a:ext cx="148857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大姨妈来了</a:t>
            </a:r>
            <a:endParaRPr lang="zh-CN" sz="1350" dirty="0"/>
          </a:p>
        </p:txBody>
      </p:sp>
      <p:sp>
        <p:nvSpPr>
          <p:cNvPr id="21" name="Text 13"/>
          <p:cNvSpPr/>
          <p:nvPr>
            <p:custDataLst>
              <p:tags r:id="rId21"/>
            </p:custDataLst>
          </p:nvPr>
        </p:nvSpPr>
        <p:spPr>
          <a:xfrm>
            <a:off x="6126564" y="4584144"/>
            <a:ext cx="1488579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33000"/>
              </a:lnSpc>
              <a:buNone/>
            </a:pPr>
            <a:r>
              <a:rPr lang="zh-CN" altLang="en-US" sz="1100" kern="0" spc="-22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极简女性智能经期管理</a:t>
            </a:r>
            <a:endParaRPr lang="zh-CN" sz="1100" dirty="0"/>
          </a:p>
        </p:txBody>
      </p:sp>
      <p:sp>
        <p:nvSpPr>
          <p:cNvPr id="23" name="Text 14"/>
          <p:cNvSpPr/>
          <p:nvPr>
            <p:custDataLst>
              <p:tags r:id="rId22"/>
            </p:custDataLst>
          </p:nvPr>
        </p:nvSpPr>
        <p:spPr>
          <a:xfrm>
            <a:off x="7792323" y="3999548"/>
            <a:ext cx="148865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KeenAI </a:t>
            </a:r>
            <a:endParaRPr lang="en-US" sz="1350" dirty="0"/>
          </a:p>
        </p:txBody>
      </p:sp>
      <p:sp>
        <p:nvSpPr>
          <p:cNvPr id="24" name="Text 15"/>
          <p:cNvSpPr/>
          <p:nvPr>
            <p:custDataLst>
              <p:tags r:id="rId23"/>
            </p:custDataLst>
          </p:nvPr>
        </p:nvSpPr>
        <p:spPr>
          <a:xfrm>
            <a:off x="7792323" y="4277707"/>
            <a:ext cx="148865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AI 智能客服</a:t>
            </a:r>
            <a:endParaRPr lang="zh-CN" sz="1350" dirty="0"/>
          </a:p>
        </p:txBody>
      </p:sp>
      <p:sp>
        <p:nvSpPr>
          <p:cNvPr id="25" name="Text 16"/>
          <p:cNvSpPr/>
          <p:nvPr>
            <p:custDataLst>
              <p:tags r:id="rId24"/>
            </p:custDataLst>
          </p:nvPr>
        </p:nvSpPr>
        <p:spPr>
          <a:xfrm>
            <a:off x="7792323" y="4584219"/>
            <a:ext cx="148865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33000"/>
              </a:lnSpc>
              <a:buNone/>
            </a:pPr>
            <a:r>
              <a:rPr lang="zh-CN" altLang="en-US" sz="1100" kern="0" spc="-22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开源智能客服解决方案</a:t>
            </a:r>
            <a:endParaRPr lang="zh-CN" sz="1100" dirty="0"/>
          </a:p>
        </p:txBody>
      </p:sp>
      <p:sp>
        <p:nvSpPr>
          <p:cNvPr id="35" name="Text 14"/>
          <p:cNvSpPr/>
          <p:nvPr>
            <p:custDataLst>
              <p:tags r:id="rId25"/>
            </p:custDataLst>
          </p:nvPr>
        </p:nvSpPr>
        <p:spPr>
          <a:xfrm>
            <a:off x="9569688" y="3983038"/>
            <a:ext cx="148865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RolePing.AI</a:t>
            </a:r>
            <a:endParaRPr lang="en-US" sz="1350" dirty="0"/>
          </a:p>
        </p:txBody>
      </p:sp>
      <p:sp>
        <p:nvSpPr>
          <p:cNvPr id="36" name="Text 15"/>
          <p:cNvSpPr/>
          <p:nvPr>
            <p:custDataLst>
              <p:tags r:id="rId26"/>
            </p:custDataLst>
          </p:nvPr>
        </p:nvSpPr>
        <p:spPr>
          <a:xfrm>
            <a:off x="9569688" y="4261197"/>
            <a:ext cx="148865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求职者</a:t>
            </a:r>
            <a:r>
              <a:rPr lang="en-US" altLang="zh-CN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 AI </a:t>
            </a:r>
            <a:r>
              <a:rPr lang="en-US" altLang="zh-CN" sz="1350" b="1" kern="0" spc="-42" dirty="0">
                <a:solidFill>
                  <a:srgbClr val="E5E0D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Agent</a:t>
            </a:r>
            <a:endParaRPr lang="en-US" altLang="zh-CN" sz="1350" b="1" kern="0" spc="-42" dirty="0">
              <a:solidFill>
                <a:srgbClr val="E5E0DF"/>
              </a:solidFill>
              <a:latin typeface="Inter Bold" panose="02000503000000020004" pitchFamily="34" charset="0"/>
              <a:ea typeface="Inter Bold" panose="02000503000000020004" pitchFamily="34" charset="-122"/>
              <a:cs typeface="Inter Bold" panose="02000503000000020004" pitchFamily="34" charset="-120"/>
            </a:endParaRPr>
          </a:p>
        </p:txBody>
      </p:sp>
      <p:sp>
        <p:nvSpPr>
          <p:cNvPr id="37" name="Text 16"/>
          <p:cNvSpPr/>
          <p:nvPr>
            <p:custDataLst>
              <p:tags r:id="rId27"/>
            </p:custDataLst>
          </p:nvPr>
        </p:nvSpPr>
        <p:spPr>
          <a:xfrm>
            <a:off x="9569688" y="4567709"/>
            <a:ext cx="148865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E5E0D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工作找人，不是人找工作</a:t>
            </a:r>
            <a:endParaRPr lang="zh-CN" sz="1100" dirty="0"/>
          </a:p>
        </p:txBody>
      </p:sp>
      <p:pic>
        <p:nvPicPr>
          <p:cNvPr id="38" name="图片 37" descr="roleping-mark-signal-51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96450" y="2932430"/>
            <a:ext cx="1133475" cy="1133475"/>
          </a:xfrm>
          <a:prstGeom prst="rect">
            <a:avLst/>
          </a:prstGeom>
        </p:spPr>
      </p:pic>
      <p:pic>
        <p:nvPicPr>
          <p:cNvPr id="39" name="图片 38" descr="keenai-logo-simple-51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63840" y="2783840"/>
            <a:ext cx="1312545" cy="1312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Problem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02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105918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35"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真实痛点不是缺聊天窗口，而是客服、知识和反馈无法闭环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企业在客户支持上同时承受成本、数据控制、流程一致性和 AI 落地压力。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3143250"/>
            <a:ext cx="2476500" cy="1619250"/>
          </a:xfrm>
          <a:prstGeom prst="roundRect">
            <a:avLst>
              <a:gd name="adj" fmla="val 4706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3143250"/>
            <a:ext cx="28575" cy="1619250"/>
          </a:xfrm>
          <a:prstGeom prst="rect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33337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成本持续上升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771900"/>
            <a:ext cx="2057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Intercom / Zendesk / AI resolution / seat 叠加收费，中小团队在规模化前就承担企业级成本。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14700" y="3143250"/>
            <a:ext cx="2476500" cy="1619250"/>
          </a:xfrm>
          <a:prstGeom prst="roundRect">
            <a:avLst>
              <a:gd name="adj" fmla="val 4706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524250" y="33337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数据与 AI 不可控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24250" y="3771900"/>
            <a:ext cx="2057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客户对话、工单、知识和反馈沉在第三方平台；模型黑盒，私有化与合规困难。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019800" y="3143250"/>
            <a:ext cx="2476500" cy="1619250"/>
          </a:xfrm>
          <a:prstGeom prst="roundRect">
            <a:avLst>
              <a:gd name="adj" fmla="val 4706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33337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多端入口割裂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29350" y="3771900"/>
            <a:ext cx="2057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Email、Widget、Discord、Slack、API 进入不同系统，人工搬运上下文。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724900" y="3143250"/>
            <a:ext cx="2476500" cy="1619250"/>
          </a:xfrm>
          <a:prstGeom prst="roundRect">
            <a:avLst>
              <a:gd name="adj" fmla="val 4706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934450" y="33337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流程依赖经验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34450" y="3771900"/>
            <a:ext cx="2057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高价值客户优先级、SLA、Bug 分流、需求归并和客服交接难以标准化。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55435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 的切入点：把入口、知识、AI 判断和自动化动作放进企业自己可控的系统。</a:t>
            </a:r>
            <a:endParaRPr sz="18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Customers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03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目标客户是需要低成本、可控 AI 和私有化的团队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三类客户共享同一个需求：把支持和反馈数据沉淀在自己的系统里。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2952750"/>
            <a:ext cx="3238500" cy="2590800"/>
          </a:xfrm>
          <a:prstGeom prst="roundRect">
            <a:avLst>
              <a:gd name="adj" fmla="val 2941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952750"/>
            <a:ext cx="28575" cy="2590800"/>
          </a:xfrm>
          <a:prstGeom prst="rect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31432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SaaS 创业团队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581400"/>
            <a:ext cx="28194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5-50 人，月活 1k-100k。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endParaRPr sz="1200"/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痛点：Intercom 成本高，Zendesk 太重，反馈闭环弱。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endParaRPr sz="1200"/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购买动机：AI 首响、低成本客服、反馈和路线图一体化。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476750" y="2952750"/>
            <a:ext cx="3238500" cy="2590800"/>
          </a:xfrm>
          <a:prstGeom prst="roundRect">
            <a:avLst>
              <a:gd name="adj" fmla="val 2941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86300" y="31432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独立开发者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86300" y="3581400"/>
            <a:ext cx="28194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1-5 人维护多个产品。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endParaRPr sz="1200"/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痛点：没有专职客服，重复问题消耗开发时间。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endParaRPr sz="1200"/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购买动机：一键部署、AI 7x24 回复、用户反馈沉淀。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343900" y="2952750"/>
            <a:ext cx="3238500" cy="2590800"/>
          </a:xfrm>
          <a:prstGeom prst="roundRect">
            <a:avLst>
              <a:gd name="adj" fmla="val 2941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553450" y="31432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企业内部 IT / DevTool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53450" y="3581400"/>
            <a:ext cx="28194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100-10000 员工。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endParaRPr sz="1200"/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痛点：数据不能出内网，内部服务台响应慢。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endParaRPr sz="1200"/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购买动机：私有化、SSO、审计、本地模型、流程自动化。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Platform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04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 是客户支持与产品反馈的 AI 操作系统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从客户入口到知识检索、Agent 执行、Workflow 编排和产品反馈沉淀，形成同一条链路。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3124200"/>
            <a:ext cx="224790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32766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01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19200" y="3267075"/>
            <a:ext cx="1447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4940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Multi-channel intake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19200" y="3657600"/>
            <a:ext cx="1447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183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Widget、Email、Discord、Slack、Telegram、API / Webhook 统一进入 Inbox。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2990850" y="3676650"/>
            <a:ext cx="7620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3924300" y="3124200"/>
            <a:ext cx="224790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095750" y="32766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02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33900" y="3267075"/>
            <a:ext cx="1447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Context layer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33900" y="3657600"/>
            <a:ext cx="1447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263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客户、组织、会话、工单、历史反馈、权限和 SLA 组合成实时上下文。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6305550" y="3676650"/>
            <a:ext cx="7620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7239000" y="3124200"/>
            <a:ext cx="224790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10450" y="32766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03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48600" y="3267075"/>
            <a:ext cx="1447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AI Kernel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48600" y="3657600"/>
            <a:ext cx="1447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263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Keeni AI Agent + RAG + Memory 判断问题、检索事实、生成或执行动作。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9620250" y="3676650"/>
            <a:ext cx="5715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10287000" y="3124200"/>
            <a:ext cx="142875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458450" y="32766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04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896600" y="3267075"/>
            <a:ext cx="628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4444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Business loop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896600" y="3657600"/>
            <a:ext cx="628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5873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Ticket、Feedback、Roadmap、Changelog、Help Center 形成产品与服务闭环。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54292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33"/>
          </a:bodyPr>
          <a:lstStyle/>
          <a:p>
            <a:pPr algn="l">
              <a:defRPr sz="18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不是单点客服机器人，而是把支持运营流程产品化。</a:t>
            </a:r>
            <a:endParaRPr sz="18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Channels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05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多端接入让客户在哪里提问，企业就在哪里响应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所有入口统一进入同一套客户上下文、AI 判断、知识库检索、Workflow 分派和数据分析。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3105150"/>
            <a:ext cx="1962150" cy="2095500"/>
          </a:xfrm>
          <a:prstGeom prst="roundRect">
            <a:avLst>
              <a:gd name="adj" fmla="val 3883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3105150"/>
            <a:ext cx="28575" cy="2095500"/>
          </a:xfrm>
          <a:prstGeom prst="rect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32956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63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Messenger Widget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733800"/>
            <a:ext cx="15430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嵌入官网和产品内，承接访客、登录用户和自助服务入口。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857500" y="3105150"/>
            <a:ext cx="1962150" cy="2095500"/>
          </a:xfrm>
          <a:prstGeom prst="roundRect">
            <a:avLst>
              <a:gd name="adj" fmla="val 388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067050" y="32956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Email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67050" y="3733800"/>
            <a:ext cx="15430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support@ 邮件自动归并线程，转 Conversation 或 Ticket。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105400" y="3105150"/>
            <a:ext cx="1962150" cy="2095500"/>
          </a:xfrm>
          <a:prstGeom prst="roundRect">
            <a:avLst>
              <a:gd name="adj" fmla="val 388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314950" y="32956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279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Discord / Slack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14950" y="3733800"/>
            <a:ext cx="15430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面向社区、开发者客户和内部协作场景的即时支持。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353300" y="3105150"/>
            <a:ext cx="1962150" cy="2095500"/>
          </a:xfrm>
          <a:prstGeom prst="roundRect">
            <a:avLst>
              <a:gd name="adj" fmla="val 388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562850" y="32956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07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Telegram / WhatsApp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562850" y="3733800"/>
            <a:ext cx="15430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覆盖移动优先和国际化支持场景，后续扩展微信、</a:t>
            </a:r>
            <a:r>
              <a:rPr lang="zh-CN"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飞书、钉钉</a:t>
            </a: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601200" y="3105150"/>
            <a:ext cx="1962150" cy="2095500"/>
          </a:xfrm>
          <a:prstGeom prst="roundRect">
            <a:avLst>
              <a:gd name="adj" fmla="val 388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810750" y="32956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39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API / Webhook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810750" y="3733800"/>
            <a:ext cx="15430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业务系统、CRM、工单系统和自定义工具可直接接入。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Keeni AI Agent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06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Keeni AI Agent 负责理解、回答、执行和升级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Agent 不只生成话术，而是在企业客服流程里使用知识、工具和规则完成可控动作。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2952750"/>
            <a:ext cx="2476500" cy="1619250"/>
          </a:xfrm>
          <a:prstGeom prst="roundRect">
            <a:avLst>
              <a:gd name="adj" fmla="val 4706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952750"/>
            <a:ext cx="28575" cy="1619250"/>
          </a:xfrm>
          <a:prstGeom prst="rect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31432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理解客户意图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581400"/>
            <a:ext cx="2057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识别咨询、Bug、账单、退款、功能请求、账号问题、情绪风险和升级条件。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14700" y="2952750"/>
            <a:ext cx="2476500" cy="1619250"/>
          </a:xfrm>
          <a:prstGeom prst="roundRect">
            <a:avLst>
              <a:gd name="adj" fmla="val 4706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524250" y="31432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检索可信答案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24250" y="3581400"/>
            <a:ext cx="2057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优先调用 Help Center、产品文档、历史工单和内部知识，通过 RAG 生成带来源回复。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019800" y="2952750"/>
            <a:ext cx="2476500" cy="1619250"/>
          </a:xfrm>
          <a:prstGeom prst="roundRect">
            <a:avLst>
              <a:gd name="adj" fmla="val 4706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31432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执行客服动作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29350" y="3581400"/>
            <a:ext cx="2057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创建 Ticket、打标签、分配团队、推荐文档、订阅反馈、调用业务系统。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724900" y="2952750"/>
            <a:ext cx="2476500" cy="1619250"/>
          </a:xfrm>
          <a:prstGeom prst="roundRect">
            <a:avLst>
              <a:gd name="adj" fmla="val 4706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934450" y="31432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人工兜底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34450" y="3581400"/>
            <a:ext cx="2057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低置信度、负面情绪、合规/退款等场景转人工，并交付摘要和建议。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5429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企业价值：把重复首响和资料查询交给 AI，把复杂判断和关系维护留给人工。</a:t>
            </a:r>
            <a:endParaRPr sz="18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Agent Runtime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07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35"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Agent 的工作循环让每次回复都可解释、可干预、可升级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Plan -&gt; Retrieve -&gt; Act -&gt; Observe -&gt; Escalate，把 AI 放进企业可审计流程里。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3143250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32956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01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19200" y="3286125"/>
            <a:ext cx="100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Plan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19200" y="3676650"/>
            <a:ext cx="1009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110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识别意图、风险、所需上下文和是否需要工具。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2495550" y="3695700"/>
            <a:ext cx="3810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2800350" y="3143250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971800" y="32956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02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09950" y="3286125"/>
            <a:ext cx="100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Retrieve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09950" y="3676650"/>
            <a:ext cx="1009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330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从知识库、Memory、客户资料和工单历史取证。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4686300" y="3695700"/>
            <a:ext cx="3810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4991100" y="3143250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162550" y="32956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03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600700" y="3286125"/>
            <a:ext cx="100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Act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00700" y="3676650"/>
            <a:ext cx="1009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110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生成回复、调用工具、创建工单或触发 Workflow。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6877050" y="3695700"/>
            <a:ext cx="3810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7181850" y="3143250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353300" y="32956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04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791450" y="3286125"/>
            <a:ext cx="100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Observe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791450" y="3676650"/>
            <a:ext cx="1009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110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记录结果、用户反馈、采纳率、CSAT 和后续追问。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6" name="右箭头 25"/>
          <p:cNvSpPr>
            <a:spLocks noGrp="1"/>
          </p:cNvSpPr>
          <p:nvPr/>
        </p:nvSpPr>
        <p:spPr>
          <a:xfrm>
            <a:off x="9067800" y="3695700"/>
            <a:ext cx="3810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9372600" y="3143250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544050" y="32956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05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982200" y="3286125"/>
            <a:ext cx="100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Escalate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982200" y="3676650"/>
            <a:ext cx="1009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778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低置信度、敏感动作或失败路径转人工处理。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9600" y="54673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支持多模型：OpenAI / Anthropic / Gemini / DeepSeek / Kimi / Ollama，本地模型可用于私有化和离线部署。</a:t>
            </a:r>
            <a:endParaRPr sz="1425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Knowledge Base / RAG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08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RAG 是 AI 可控回答的事实层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KeenAI 将企业知识转成可检索、可评测、可追溯的回答依据。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2000" y="2914650"/>
            <a:ext cx="247650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30670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01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71600" y="3057525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Source ingestion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71600" y="3448050"/>
            <a:ext cx="1676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222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Help Center、Markdown、网页、GitHub、Intercom / Zendesk 导入、Roadmap 数据和历史工单。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3429000" y="3467100"/>
            <a:ext cx="7239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4343400" y="2914650"/>
            <a:ext cx="247650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514850" y="30670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02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953000" y="3057525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Chunk + enrich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953000" y="3448050"/>
            <a:ext cx="1676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文档切块、元数据、版本、语言、权限、实体和关系抽取。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010400" y="3467100"/>
            <a:ext cx="7239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7924800" y="2914650"/>
            <a:ext cx="247650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96250" y="30670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03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34400" y="3057525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Hybrid retrieval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34400" y="3448050"/>
            <a:ext cx="1676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全文搜索 + 向量召回 + rerank，兼顾关键词精确匹配和语义理解。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2000" y="521970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输出要求：答案附来源链接，知识可过期，命中质量可评测，查询日志可回流优化。</a:t>
            </a:r>
            <a:endParaRPr sz="18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RAG Quality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09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知识库不只回答问题，还持续提升客服质量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企业级 RAG 的关键是权限、时效、评测和反馈回路，而不是简单向量搜索。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2000" y="3048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71550" y="321945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27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7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Freshness</a:t>
            </a:r>
            <a:endParaRPr sz="27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3771900"/>
            <a:ext cx="1866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知识源更新、过期检测和版本记录，避免 AI 使用旧答案。</a:t>
            </a:r>
            <a:endParaRPr sz="12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581400" y="3048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790950" y="321945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25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25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Permission</a:t>
            </a:r>
            <a:endParaRPr sz="225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90950" y="3771900"/>
            <a:ext cx="1866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458"/>
          </a:bodyPr>
          <a:lstStyle/>
          <a:p>
            <a:pPr algn="l">
              <a:def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按 org、brand、角色和客户上下文过滤知识，避免越权引用。</a:t>
            </a:r>
            <a:endParaRPr sz="12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400800" y="3048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10350" y="321945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25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25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Evaluation</a:t>
            </a:r>
            <a:endParaRPr sz="225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10350" y="3771900"/>
            <a:ext cx="1866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322"/>
          </a:bodyPr>
          <a:lstStyle/>
          <a:p>
            <a:pPr algn="l">
              <a:def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Golden queries、命中率、引用覆盖和人工反馈用于持续评测。</a:t>
            </a:r>
            <a:endParaRPr sz="12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220200" y="3048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429750" y="321945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25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25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Traceability</a:t>
            </a:r>
            <a:endParaRPr sz="225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429750" y="3771900"/>
            <a:ext cx="1866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478"/>
          </a:bodyPr>
          <a:lstStyle/>
          <a:p>
            <a:pPr algn="l">
              <a:def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每条 AI 回复带来源、检索证据和生成路径，便于审计。</a:t>
            </a:r>
            <a:endParaRPr sz="12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2000" y="53340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结果：降低幻觉，提升首响质量，并让客服知识沉淀变成可运营资产。</a:t>
            </a:r>
            <a:endParaRPr sz="18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Memory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10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Memory 让 Agent 记住客户、团队和长期上下文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KeenAI 的 Memory 不是聊天记录缓存，而是服务于客户支持的长期知识层。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3048000"/>
            <a:ext cx="2476500" cy="1676400"/>
          </a:xfrm>
          <a:prstGeom prst="roundRect">
            <a:avLst>
              <a:gd name="adj" fmla="val 4545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3048000"/>
            <a:ext cx="28575" cy="1676400"/>
          </a:xfrm>
          <a:prstGeom prst="rect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323850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Customer memory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676650"/>
            <a:ext cx="20574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客户偏好、历史问题、产品版本、购买计划、常见故障和满意度趋势。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14700" y="3048000"/>
            <a:ext cx="2476500" cy="1676400"/>
          </a:xfrm>
          <a:prstGeom prst="roundRect">
            <a:avLst>
              <a:gd name="adj" fmla="val 4545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524250" y="323850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925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Conversation memory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24250" y="3676650"/>
            <a:ext cx="20574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当前对话的事实、已尝试方案、未解决问题和人工交接摘要。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019800" y="3048000"/>
            <a:ext cx="2476500" cy="1676400"/>
          </a:xfrm>
          <a:prstGeom prst="roundRect">
            <a:avLst>
              <a:gd name="adj" fmla="val 4545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323850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Team memory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29350" y="3676650"/>
            <a:ext cx="20574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团队处理偏好、宏模板、升级规则、成功案例和内部 SOP。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724900" y="3048000"/>
            <a:ext cx="2476500" cy="1676400"/>
          </a:xfrm>
          <a:prstGeom prst="roundRect">
            <a:avLst>
              <a:gd name="adj" fmla="val 4545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934450" y="323850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Product memory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34450" y="3676650"/>
            <a:ext cx="20574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功能缺口、重复需求、Bug 模式和 Roadmap / Changelog 关联。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54483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Memory 价值：减少重复询问，让 AI 和人工客服共享同一份可延续上下文。</a:t>
            </a:r>
            <a:endParaRPr sz="18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Memory Pipeline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11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记忆需要抽取、压缩、冲突处理和遗忘机制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企业客服里的记忆必须可信、可纠错、可删除，才能符合运营和合规要求。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2000" y="2990850"/>
            <a:ext cx="238125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3143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01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71600" y="31337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Extract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71600" y="3524250"/>
            <a:ext cx="1581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从对话、工单和反馈中抽取事实、偏好、实体、关系和待办。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3333750" y="3543300"/>
            <a:ext cx="6096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4133850" y="2990850"/>
            <a:ext cx="238125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305300" y="3143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02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43450" y="31337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Consolidate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43450" y="3524250"/>
            <a:ext cx="1581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778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合并重复事实，压缩长对话，形成客户级、主题级和全局摘要树。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6705600" y="3543300"/>
            <a:ext cx="6096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7505700" y="2990850"/>
            <a:ext cx="238125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677150" y="3143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03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15300" y="31337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Validate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15300" y="3524250"/>
            <a:ext cx="1581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用置信度、时间衰减和矛盾检测防止错误记忆污染回答。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2000" y="5219700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合规边界：支持数据导出、删除、审计和租户隔离；敏感信息经过 PII 处理后进入记忆层。</a:t>
            </a:r>
            <a:endParaRPr sz="172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Workflow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12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1072705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35"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Workflow 把客服处理经验变成可配置、可追踪的自动化流程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Trigger + Condition + Action，让企业不写代码也能沉淀标准流程。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2000" y="3067050"/>
            <a:ext cx="2857500" cy="1809750"/>
          </a:xfrm>
          <a:prstGeom prst="roundRect">
            <a:avLst>
              <a:gd name="adj" fmla="val 4211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067050"/>
            <a:ext cx="28575" cy="1809750"/>
          </a:xfrm>
          <a:prstGeom prst="rect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32575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Trigger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3695700"/>
            <a:ext cx="243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客户发起新对话、邮件进入、Discord 提问、Ticket 状态变化、客户/客服超时未回复、定时任务、Webhook。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3905250" y="3781425"/>
            <a:ext cx="7239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4914900" y="3067050"/>
            <a:ext cx="2857500" cy="1809750"/>
          </a:xfrm>
          <a:prstGeom prst="roundRect">
            <a:avLst>
              <a:gd name="adj" fmla="val 4211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124450" y="32575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Condition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24450" y="3695700"/>
            <a:ext cx="24384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客户等级、渠道来源、工作时间、关键词/意图、AI 置信度、是否已有工单、SLA 状态。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8058150" y="3781425"/>
            <a:ext cx="7239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9067800" y="3067050"/>
            <a:ext cx="2362200" cy="1809750"/>
          </a:xfrm>
          <a:prstGeom prst="roundRect">
            <a:avLst>
              <a:gd name="adj" fmla="val 4211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277350" y="325755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Action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277350" y="3695700"/>
            <a:ext cx="19431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284"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让 AI 回答、分配团队、创建 Ticket、应用 SLA、发送通知、调用 HTTP API / MCP、关闭或重开对话。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Workflow Blocks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13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35"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Block 列表覆盖 AI、消息、输入、流程控制、工单和集成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Block 是可视化 Workflow Builder 的最小执行单元，运营团队可以组合成标准客服流程。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2933700"/>
            <a:ext cx="2476500" cy="1238250"/>
          </a:xfrm>
          <a:prstGeom prst="roundRect">
            <a:avLst>
              <a:gd name="adj" fmla="val 6154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933700"/>
            <a:ext cx="28575" cy="1238250"/>
          </a:xfrm>
          <a:prstGeom prst="rect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312420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AI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56235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let_keeni_answer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挂载 Keeni Agent，输出 resolution 并进入分支。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14700" y="2933700"/>
            <a:ext cx="2476500" cy="1238250"/>
          </a:xfrm>
          <a:prstGeom prst="roundRect">
            <a:avLst>
              <a:gd name="adj" fmla="val 6154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524250" y="312420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客户可见消息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24250" y="356235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send_message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show_expected_reply_time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019800" y="2933700"/>
            <a:ext cx="2476500" cy="1238250"/>
          </a:xfrm>
          <a:prstGeom prst="roundRect">
            <a:avLst>
              <a:gd name="adj" fmla="val 6154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312420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客户输入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29350" y="356235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0000"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reply_buttons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collect_data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collect_customer_reply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disable_customer_reply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csat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724900" y="2933700"/>
            <a:ext cx="2476500" cy="1238250"/>
          </a:xfrm>
          <a:prstGeom prst="roundRect">
            <a:avLst>
              <a:gd name="adj" fmla="val 6154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934450" y="312420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流程控制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34450" y="356235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0000"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branches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apply_rules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wait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goto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end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09600" y="4610100"/>
            <a:ext cx="3314700" cy="1238250"/>
          </a:xfrm>
          <a:prstGeom prst="roundRect">
            <a:avLst>
              <a:gd name="adj" fmla="val 6154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9150" y="48006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后台动作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9150" y="52387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509"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assign / mark_priority / apply_sla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add_note / tag_end_user / tag_conversation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438650" y="4610100"/>
            <a:ext cx="3314700" cy="1238250"/>
          </a:xfrm>
          <a:prstGeom prst="roundRect">
            <a:avLst>
              <a:gd name="adj" fmla="val 6154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648200" y="48006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状态与 Ticket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648200" y="52387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91"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snooze / close / reopen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set_ticket_state / send_ticket_form / convert_to_ticket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267700" y="4610100"/>
            <a:ext cx="3314700" cy="1238250"/>
          </a:xfrm>
          <a:prstGeom prst="roundRect">
            <a:avLst>
              <a:gd name="adj" fmla="val 6154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267700" y="4610100"/>
            <a:ext cx="28575" cy="1238250"/>
          </a:xfrm>
          <a:prstGeom prst="rect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477250" y="48006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集成扩展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477250" y="52387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http_request / script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webhook_emit / mcp_call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Workflow Demo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14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Demo 图：企业客户 Bug 反馈自动转工单并通知进度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这条流程展示 Trigger、AI Block、条件分支、Ticket Block、SLA 和通知如何组合。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04850" y="2971800"/>
            <a:ext cx="2571750" cy="1200150"/>
          </a:xfrm>
          <a:prstGeom prst="roundRect">
            <a:avLst>
              <a:gd name="adj" fmla="val 6349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31242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01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14450" y="3114675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Trigger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14450" y="3505200"/>
            <a:ext cx="1771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057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Enterprise 客户从 Discord 发送 “export failed” 反馈。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3448050" y="3409950"/>
            <a:ext cx="6096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4229100" y="2971800"/>
            <a:ext cx="2571750" cy="1200150"/>
          </a:xfrm>
          <a:prstGeom prst="roundRect">
            <a:avLst>
              <a:gd name="adj" fmla="val 6349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400550" y="31242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02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38700" y="3114675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let_keeni_answer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38700" y="3505200"/>
            <a:ext cx="1771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926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Agent 检索 RAG、读取 Memory，判断为 Bug，置信度 0.84。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6972300" y="3409950"/>
            <a:ext cx="6096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7753350" y="2971800"/>
            <a:ext cx="2571750" cy="1200150"/>
          </a:xfrm>
          <a:prstGeom prst="roundRect">
            <a:avLst>
              <a:gd name="adj" fmla="val 6349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924800" y="31242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03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62950" y="3114675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branches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62950" y="3505200"/>
            <a:ext cx="1771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926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如果 type = bug 且 plan = enterprise，进入高优先级路径。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1" name="下箭头 20"/>
          <p:cNvSpPr>
            <a:spLocks noGrp="1"/>
          </p:cNvSpPr>
          <p:nvPr/>
        </p:nvSpPr>
        <p:spPr>
          <a:xfrm>
            <a:off x="8896350" y="4324350"/>
            <a:ext cx="400050" cy="552450"/>
          </a:xfrm>
          <a:prstGeom prst="down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4229100" y="4953000"/>
            <a:ext cx="2571750" cy="1200150"/>
          </a:xfrm>
          <a:prstGeom prst="roundRect">
            <a:avLst>
              <a:gd name="adj" fmla="val 6349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400550" y="51054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04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838700" y="5095875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convert_to_ticket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838700" y="5486400"/>
            <a:ext cx="1771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926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创建 Customer Ticket，关联 conversation、证据和客户上下文。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6" name="右箭头 25"/>
          <p:cNvSpPr>
            <a:spLocks noGrp="1"/>
          </p:cNvSpPr>
          <p:nvPr/>
        </p:nvSpPr>
        <p:spPr>
          <a:xfrm>
            <a:off x="6972300" y="5391150"/>
            <a:ext cx="60960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7753350" y="4953000"/>
            <a:ext cx="2571750" cy="1200150"/>
          </a:xfrm>
          <a:prstGeom prst="roundRect">
            <a:avLst>
              <a:gd name="adj" fmla="val 6349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924800" y="51054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05</a:t>
            </a:r>
            <a:endParaRPr sz="12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362950" y="5095875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079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assign + SLA + notify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62950" y="5486400"/>
            <a:ext cx="1771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926"/>
          </a:bodyPr>
          <a:lstStyle/>
          <a:p>
            <a:pPr algn="l">
              <a:def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分配 Engineering Triage，应用 1 小时 SLA，并通知客户进度。</a:t>
            </a:r>
            <a:endParaRPr sz="112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04850" y="4400550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207"/>
          </a:bodyPr>
          <a:lstStyle/>
          <a:p>
            <a:pPr algn="l">
              <a:def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结果：客户收到确认与进度通知；客服接手时工单、证据、SLA 和上下文已准备好。</a:t>
            </a:r>
            <a:endParaRPr sz="157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Workflow Demo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14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pic>
        <p:nvPicPr>
          <p:cNvPr id="33" name="图片 32" descr="截屏2026-09-16 01.03.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530" y="828675"/>
            <a:ext cx="10880090" cy="5699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AI + RAG + Memory + Workflow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15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四个核心能力组合，才是真正的企业级 AI 客服闭环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RAG 提供事实，Memory 提供上下文，Agent 做判断和执行，Workflow 负责治理和编排。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295400" y="3200400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581150" y="3457575"/>
            <a:ext cx="123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/>
          </a:bodyPr>
          <a:lstStyle/>
          <a:p>
            <a:pPr algn="ctr">
              <a:def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RAG</a:t>
            </a:r>
            <a:endParaRPr sz="18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  <a:p>
            <a:pPr algn="ctr">
              <a:def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事实与来源</a:t>
            </a:r>
            <a:endParaRPr sz="18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257550" y="3571875"/>
            <a:ext cx="66675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095750" y="3200400"/>
            <a:ext cx="1809750" cy="1066800"/>
          </a:xfrm>
          <a:prstGeom prst="roundRect">
            <a:avLst>
              <a:gd name="adj" fmla="val 7143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381500" y="3457575"/>
            <a:ext cx="123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/>
          </a:bodyPr>
          <a:lstStyle/>
          <a:p>
            <a:pPr algn="ctr">
              <a:def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Memory</a:t>
            </a:r>
            <a:endParaRPr sz="18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  <a:p>
            <a:pPr algn="ctr">
              <a:def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长期上下文</a:t>
            </a:r>
            <a:endParaRPr sz="18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6057900" y="3571875"/>
            <a:ext cx="66675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96100" y="3028950"/>
            <a:ext cx="2038350" cy="1409700"/>
          </a:xfrm>
          <a:prstGeom prst="roundRect">
            <a:avLst>
              <a:gd name="adj" fmla="val 5405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58050" y="3409950"/>
            <a:ext cx="133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976"/>
          </a:bodyPr>
          <a:lstStyle/>
          <a:p>
            <a:pPr algn="ctr">
              <a:defRPr sz="21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1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Keeni AI</a:t>
            </a:r>
            <a:endParaRPr sz="21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  <a:p>
            <a:pPr algn="ctr">
              <a:defRPr sz="21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1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Agent</a:t>
            </a:r>
            <a:endParaRPr sz="21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9086850" y="3571875"/>
            <a:ext cx="666750" cy="323850"/>
          </a:xfrm>
          <a:prstGeom prst="rightArrow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9925050" y="3200400"/>
            <a:ext cx="1619250" cy="1066800"/>
          </a:xfrm>
          <a:prstGeom prst="roundRect">
            <a:avLst>
              <a:gd name="adj" fmla="val 7143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191750" y="3457575"/>
            <a:ext cx="1085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537"/>
          </a:bodyPr>
          <a:lstStyle/>
          <a:p>
            <a:pPr algn="ctr">
              <a:defRPr sz="172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Workflow</a:t>
            </a:r>
            <a:endParaRPr sz="172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  <a:p>
            <a:pPr algn="ctr">
              <a:defRPr sz="172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治理与动作</a:t>
            </a:r>
            <a:endParaRPr sz="1725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71550" y="5219700"/>
            <a:ext cx="962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同一个客户问题可以被理解、取证、记忆、执行、升级，并把结果沉淀回知识和流程。</a:t>
            </a:r>
            <a:endParaRPr sz="18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Architecture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16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技术方案兼顾开箱自托管、企业扩展和 AI 可替换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TypeScript 全栈降低交付复杂度，双数据库后端覆盖轻量自托管和生产级部署。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2857500"/>
            <a:ext cx="3333750" cy="1466850"/>
          </a:xfrm>
          <a:prstGeom prst="roundRect">
            <a:avLst>
              <a:gd name="adj" fmla="val 5195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857500"/>
            <a:ext cx="28575" cy="1466850"/>
          </a:xfrm>
          <a:prstGeom prst="rect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30480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Frontend &amp; Channels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486150"/>
            <a:ext cx="2914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Next.js Dashboard / Portal / Help Center；Preact Widget；WebSocket / SSE 实时体验。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438650" y="2857500"/>
            <a:ext cx="3333750" cy="1466850"/>
          </a:xfrm>
          <a:prstGeom prst="roundRect">
            <a:avLst>
              <a:gd name="adj" fmla="val 5195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48200" y="30480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Service &amp; Storage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48200" y="3486150"/>
            <a:ext cx="2914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441"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Hono + Bun / Node；Drizzle；PostgreSQL + pgvector 或 SQLite / LibSQL；S3 / MinIO。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267700" y="2857500"/>
            <a:ext cx="3333750" cy="1466850"/>
          </a:xfrm>
          <a:prstGeom prst="roundRect">
            <a:avLst>
              <a:gd name="adj" fmla="val 5195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477250" y="30480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AI &amp; Automation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77250" y="3486150"/>
            <a:ext cx="2914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Vercel AI SDK；Mastra Agent；RAG；Memory；Inngest Workflow；BullMQ 队列。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" y="487680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504825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27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7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Lite</a:t>
            </a:r>
            <a:endParaRPr sz="27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9150" y="56007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单机 Docker / SQLite，适合 Indie、Demo 和低成本自托管。</a:t>
            </a:r>
            <a:endParaRPr sz="12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3314700" y="487680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524250" y="504825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27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7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Standard</a:t>
            </a:r>
            <a:endParaRPr sz="27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524250" y="56007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PostgreSQL + Redis + MinIO，适合中小团队生产部署。</a:t>
            </a:r>
            <a:endParaRPr sz="12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019800" y="487680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229350" y="504825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27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70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Cloud</a:t>
            </a:r>
            <a:endParaRPr sz="270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56007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Vercel / Cloudflare / managed PG，适合托管 SaaS。</a:t>
            </a:r>
            <a:endParaRPr sz="12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724900" y="487680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934450" y="504825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25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250" b="1">
                <a:solidFill>
                  <a:srgbClr val="828FFF"/>
                </a:solidFill>
                <a:latin typeface="SF Pro Display"/>
                <a:ea typeface="SF Pro Display"/>
                <a:cs typeface="SF Pro Display"/>
              </a:rPr>
              <a:t>Enterprise</a:t>
            </a:r>
            <a:endParaRPr sz="2250" b="1">
              <a:solidFill>
                <a:srgbClr val="828FFF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934450" y="56007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l">
              <a:def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私有化、SSO、审计、SLA、本地模型和内网集成。</a:t>
            </a:r>
            <a:endParaRPr sz="12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457200" y="285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KeenAI</a:t>
            </a:r>
            <a:endParaRPr sz="13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0" y="295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def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Business</a:t>
            </a:r>
            <a:endParaRPr sz="975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17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685800"/>
            <a:ext cx="11277600" cy="9525"/>
          </a:xfrm>
          <a:prstGeom prst="rect">
            <a:avLst/>
          </a:prstGeom>
          <a:solidFill>
            <a:srgbClr val="23252A"/>
          </a:solidFill>
          <a:ln w="0">
            <a:solidFill>
              <a:srgbClr val="23252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990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开源获客，云托管和企业私有化完成商业化</a:t>
            </a:r>
            <a:endParaRPr sz="31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1336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KeenAI 以开源降低试用门槛，用企业级 AI、私有化和托管服务变现。</a:t>
            </a:r>
            <a:endParaRPr sz="150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2800350"/>
            <a:ext cx="5143500" cy="1428750"/>
          </a:xfrm>
          <a:prstGeom prst="roundRect">
            <a:avLst>
              <a:gd name="adj" fmla="val 5333"/>
            </a:avLst>
          </a:prstGeom>
          <a:solidFill>
            <a:srgbClr val="141516"/>
          </a:solidFill>
          <a:ln w="9525">
            <a:solidFill>
              <a:srgbClr val="5E6AD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800350"/>
            <a:ext cx="28575" cy="1428750"/>
          </a:xfrm>
          <a:prstGeom prst="rect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299085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商业模式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429000"/>
            <a:ext cx="4724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自托管 AGPL 免费获取社区和企业线索；云托管按 seat / AI 用量收费；企业版提供私有化、SSO、审计和 SLA。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438900" y="2800350"/>
            <a:ext cx="5143500" cy="1428750"/>
          </a:xfrm>
          <a:prstGeom prst="roundRect">
            <a:avLst>
              <a:gd name="adj" fmla="val 5333"/>
            </a:avLst>
          </a:prstGeom>
          <a:solidFill>
            <a:srgbClr val="0F1011"/>
          </a:solidFill>
          <a:ln w="9525">
            <a:solidFill>
              <a:srgbClr val="23252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648450" y="299085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GTM</a:t>
            </a:r>
            <a:endParaRPr sz="165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48450" y="3429000"/>
            <a:ext cx="4724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D0D6E0"/>
                </a:solidFill>
                <a:latin typeface="SF Pro Display"/>
                <a:ea typeface="SF Pro Display"/>
                <a:cs typeface="SF Pro Display"/>
              </a:rPr>
              <a:t>先抓开发者和 Indie Hacker，再进入中小 SaaS 团队，最后用私有化方案切企业内部 IT / DevTool。</a:t>
            </a:r>
            <a:endParaRPr sz="1200" b="0">
              <a:solidFill>
                <a:srgbClr val="D0D6E0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5105400"/>
            <a:ext cx="9906000" cy="9525"/>
          </a:xfrm>
          <a:prstGeom prst="rect">
            <a:avLst/>
          </a:prstGeom>
          <a:solidFill>
            <a:srgbClr val="34343A"/>
          </a:solidFill>
          <a:ln w="0">
            <a:solidFill>
              <a:srgbClr val="34343A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76300" y="4991100"/>
            <a:ext cx="209550" cy="209550"/>
          </a:xfrm>
          <a:prstGeom prst="ellipse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8200" y="53149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defRPr sz="12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0-3M</a:t>
            </a:r>
            <a:endParaRPr sz="12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8200" y="5619750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MVP</a:t>
            </a:r>
            <a:endParaRPr sz="105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Inbox / Widget / Email / Copilot</a:t>
            </a:r>
            <a:endParaRPr sz="105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4057650" y="4991100"/>
            <a:ext cx="209550" cy="209550"/>
          </a:xfrm>
          <a:prstGeom prst="ellipse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019550" y="53149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defRPr sz="12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3-6M</a:t>
            </a:r>
            <a:endParaRPr sz="12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019550" y="5619750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Core loop</a:t>
            </a:r>
            <a:endParaRPr sz="105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Tickets / Workflow / Feedback / Help Center</a:t>
            </a:r>
            <a:endParaRPr sz="105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7239000" y="4991100"/>
            <a:ext cx="209550" cy="209550"/>
          </a:xfrm>
          <a:prstGeom prst="ellipse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200900" y="53149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defRPr sz="12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6-9M</a:t>
            </a:r>
            <a:endParaRPr sz="12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00900" y="5619750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AI full</a:t>
            </a:r>
            <a:endParaRPr sz="105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Agent / Memory / RAG / Roadmap / Changelog</a:t>
            </a:r>
            <a:endParaRPr sz="105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10420350" y="4991100"/>
            <a:ext cx="209550" cy="209550"/>
          </a:xfrm>
          <a:prstGeom prst="ellipse">
            <a:avLst/>
          </a:prstGeom>
          <a:solidFill>
            <a:srgbClr val="5E6AD2"/>
          </a:solidFill>
          <a:ln w="0">
            <a:solidFill>
              <a:srgbClr val="5E6AD2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382250" y="53149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defRPr sz="12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F7F8F8"/>
                </a:solidFill>
                <a:latin typeface="SF Pro Display"/>
                <a:ea typeface="SF Pro Display"/>
                <a:cs typeface="SF Pro Display"/>
              </a:rPr>
              <a:t>9-12M</a:t>
            </a:r>
            <a:endParaRPr sz="1200" b="1">
              <a:solidFill>
                <a:srgbClr val="F7F8F8"/>
              </a:solidFill>
              <a:latin typeface="SF Pro Display"/>
              <a:ea typeface="SF Pro Display"/>
              <a:cs typeface="SF Pro Display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382250" y="5619750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Commercial</a:t>
            </a:r>
            <a:endParaRPr sz="105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  <a:p>
            <a:pPr algn="l">
              <a:def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0">
                <a:solidFill>
                  <a:srgbClr val="8A8F98"/>
                </a:solidFill>
                <a:latin typeface="SF Pro Display"/>
                <a:ea typeface="SF Pro Display"/>
                <a:cs typeface="SF Pro Display"/>
              </a:rPr>
              <a:t>Enterprise / Cloud / Plugin ecosystem</a:t>
            </a:r>
            <a:endParaRPr sz="1050" b="0">
              <a:solidFill>
                <a:srgbClr val="8A8F98"/>
              </a:solidFill>
              <a:latin typeface="SF Pro Display"/>
              <a:ea typeface="SF Pro Display"/>
              <a:cs typeface="SF Pro Displ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1315700" y="295275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0">
                <a:solidFill>
                  <a:srgbClr val="62666D"/>
                </a:solidFill>
                <a:latin typeface="SF Pro Display"/>
                <a:ea typeface="SF Pro Display"/>
                <a:cs typeface="SF Pro Display"/>
              </a:rPr>
              <a:t>17</a:t>
            </a:r>
            <a:endParaRPr sz="975" b="0">
              <a:solidFill>
                <a:srgbClr val="62666D"/>
              </a:solidFill>
              <a:latin typeface="SF Pro Display"/>
              <a:ea typeface="SF Pro Display"/>
              <a:cs typeface="SF Pro Display"/>
            </a:endParaRPr>
          </a:p>
        </p:txBody>
      </p:sp>
      <p:pic>
        <p:nvPicPr>
          <p:cNvPr id="28" name="图片 27" descr="截屏2026-09-16 01.16.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32510" y="0"/>
            <a:ext cx="13550900" cy="69494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6011</Words>
  <Application>WPS 文字</Application>
  <PresentationFormat>Converted Presentation</PresentationFormat>
  <Paragraphs>615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2" baseType="lpstr">
      <vt:lpstr>Arial</vt:lpstr>
      <vt:lpstr>宋体</vt:lpstr>
      <vt:lpstr>Wingdings</vt:lpstr>
      <vt:lpstr>SF Pro Display</vt:lpstr>
      <vt:lpstr>Thonburi</vt:lpstr>
      <vt:lpstr>Inter Bold</vt:lpstr>
      <vt:lpstr>Inter Bold</vt:lpstr>
      <vt:lpstr>Inter Bold</vt:lpstr>
      <vt:lpstr>Inter</vt:lpstr>
      <vt:lpstr>Inter</vt:lpstr>
      <vt:lpstr>Inter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华文宋体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Jun</cp:lastModifiedBy>
  <cp:revision>12</cp:revision>
  <dcterms:created xsi:type="dcterms:W3CDTF">2026-09-17T04:02:53Z</dcterms:created>
  <dcterms:modified xsi:type="dcterms:W3CDTF">2026-09-17T04:02:53Z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8D367F74AB610BDC3FA0656A25A41B04_42</vt:lpwstr>
  </property>
  <property fmtid="{D5CDD505-2E9C-101B-9397-08002B2CF9AE}" pid="3" name="KSOProductBuildVer">
    <vt:lpwstr>2052-6.6.1.8808</vt:lpwstr>
  </property>
</Properties>
</file>