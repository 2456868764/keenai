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2d1fb9e06f4238" /><Relationship Type="http://schemas.openxmlformats.org/officeDocument/2006/relationships/extended-properties" Target="/docProps/app.xml" Id="Rb0ac52b7b4a941f4" /><Relationship Type="http://schemas.openxmlformats.org/officeDocument/2006/relationships/officeDocument" Target="/ppt/presentation.xml" Id="Rd755a137f7e74b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4d46ce4cbd45ff"/>
  </p:sldMasterIdLst>
  <p:notesMasterIdLst>
    <p:notesMasterId xmlns:r="http://schemas.openxmlformats.org/officeDocument/2006/relationships" r:id="Rf854be8ce68c4165"/>
  </p:notesMasterIdLst>
  <p:sldIdLst>
    <p:sldId xmlns:r="http://schemas.openxmlformats.org/officeDocument/2006/relationships" id="256" r:id="R1ae20b4834404453"/>
    <p:sldId xmlns:r="http://schemas.openxmlformats.org/officeDocument/2006/relationships" id="257" r:id="Refa6a7a517b74bf0"/>
    <p:sldId xmlns:r="http://schemas.openxmlformats.org/officeDocument/2006/relationships" id="258" r:id="R72ef760504894252"/>
    <p:sldId xmlns:r="http://schemas.openxmlformats.org/officeDocument/2006/relationships" id="259" r:id="Ra74ecd15f0364f79"/>
    <p:sldId xmlns:r="http://schemas.openxmlformats.org/officeDocument/2006/relationships" id="260" r:id="R47c750f63e684370"/>
    <p:sldId xmlns:r="http://schemas.openxmlformats.org/officeDocument/2006/relationships" id="261" r:id="Rccdf43a057c04562"/>
    <p:sldId xmlns:r="http://schemas.openxmlformats.org/officeDocument/2006/relationships" id="262" r:id="R38db0834a3f2440d"/>
    <p:sldId xmlns:r="http://schemas.openxmlformats.org/officeDocument/2006/relationships" id="263" r:id="Rcf879a68198f4505"/>
    <p:sldId xmlns:r="http://schemas.openxmlformats.org/officeDocument/2006/relationships" id="264" r:id="R3e89150046134b69"/>
    <p:sldId xmlns:r="http://schemas.openxmlformats.org/officeDocument/2006/relationships" id="265" r:id="R2f32c7342daa48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e337d26f854bdd" /><Relationship Type="http://schemas.openxmlformats.org/officeDocument/2006/relationships/slideMaster" Target="/ppt/slideMasters/slideMaster1.xml" Id="R2b4d46ce4cbd45ff" /><Relationship Type="http://schemas.openxmlformats.org/officeDocument/2006/relationships/notesMaster" Target="/ppt/notesMasters/notesMaster1.xml" Id="Rf854be8ce68c4165" /><Relationship Type="http://schemas.openxmlformats.org/officeDocument/2006/relationships/presProps" Target="/ppt/presProps.xml" Id="R0e7787de6d20481f" /><Relationship Type="http://schemas.openxmlformats.org/officeDocument/2006/relationships/tableStyles" Target="/ppt/tableStyles.xml" Id="R32b0d5d7c38b45f9" /><Relationship Type="http://schemas.openxmlformats.org/officeDocument/2006/relationships/slide" Target="/ppt/slides/slide1.xml" Id="R1ae20b4834404453" /><Relationship Type="http://schemas.openxmlformats.org/officeDocument/2006/relationships/slide" Target="/ppt/slides/slide2.xml" Id="Refa6a7a517b74bf0" /><Relationship Type="http://schemas.openxmlformats.org/officeDocument/2006/relationships/slide" Target="/ppt/slides/slide3.xml" Id="R72ef760504894252" /><Relationship Type="http://schemas.openxmlformats.org/officeDocument/2006/relationships/slide" Target="/ppt/slides/slide4.xml" Id="Ra74ecd15f0364f79" /><Relationship Type="http://schemas.openxmlformats.org/officeDocument/2006/relationships/slide" Target="/ppt/slides/slide5.xml" Id="R47c750f63e684370" /><Relationship Type="http://schemas.openxmlformats.org/officeDocument/2006/relationships/slide" Target="/ppt/slides/slide6.xml" Id="Rccdf43a057c04562" /><Relationship Type="http://schemas.openxmlformats.org/officeDocument/2006/relationships/slide" Target="/ppt/slides/slide7.xml" Id="R38db0834a3f2440d" /><Relationship Type="http://schemas.openxmlformats.org/officeDocument/2006/relationships/slide" Target="/ppt/slides/slide8.xml" Id="Rcf879a68198f4505" /><Relationship Type="http://schemas.openxmlformats.org/officeDocument/2006/relationships/slide" Target="/ppt/slides/slide9.xml" Id="R3e89150046134b69" /><Relationship Type="http://schemas.openxmlformats.org/officeDocument/2006/relationships/slide" Target="/ppt/slides/slide10.xml" Id="R2f32c7342daa48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7761c337ff49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2eff5c958a47e2" /><Relationship Type="http://schemas.openxmlformats.org/officeDocument/2006/relationships/notesMaster" Target="/ppt/notesMasters/notesMaster1.xml" Id="Red50ad5e3bbb41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9337028eaf40eb" /><Relationship Type="http://schemas.openxmlformats.org/officeDocument/2006/relationships/notesMaster" Target="/ppt/notesMasters/notesMaster1.xml" Id="R6d503c504bb846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30f74f15fa4a36" /><Relationship Type="http://schemas.openxmlformats.org/officeDocument/2006/relationships/notesMaster" Target="/ppt/notesMasters/notesMaster1.xml" Id="Rd683929e9f724d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5faf6751c74c14" /><Relationship Type="http://schemas.openxmlformats.org/officeDocument/2006/relationships/notesMaster" Target="/ppt/notesMasters/notesMaster1.xml" Id="R748b4ddddf344d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99b1a278e9402e" /><Relationship Type="http://schemas.openxmlformats.org/officeDocument/2006/relationships/notesMaster" Target="/ppt/notesMasters/notesMaster1.xml" Id="R45fb6d4de33b4d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2a16fabe3b45fa" /><Relationship Type="http://schemas.openxmlformats.org/officeDocument/2006/relationships/notesMaster" Target="/ppt/notesMasters/notesMaster1.xml" Id="R78340efa22f349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061b892d754dea" /><Relationship Type="http://schemas.openxmlformats.org/officeDocument/2006/relationships/notesMaster" Target="/ppt/notesMasters/notesMaster1.xml" Id="Rb1779328e3c04d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5b7b7b300c4eb6" /><Relationship Type="http://schemas.openxmlformats.org/officeDocument/2006/relationships/notesMaster" Target="/ppt/notesMasters/notesMaster1.xml" Id="R882581acca8549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c918b1b7a44c36" /><Relationship Type="http://schemas.openxmlformats.org/officeDocument/2006/relationships/notesMaster" Target="/ppt/notesMasters/notesMaster1.xml" Id="Rf5ec2bd55d3d4b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36f59921ce48b3" /><Relationship Type="http://schemas.openxmlformats.org/officeDocument/2006/relationships/notesMaster" Target="/ppt/notesMasters/notesMaster1.xml" Id="R642ae6b254ab40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README.md §1 Vision; docs/01-PRD.md §1 Product overview.</a:t>
            </a:r>
          </a:p>
          <a:p xmlns:a="http://schemas.openxmlformats.org/drawingml/2006/main">
            <a:r>
              <a:t>Position KeenAI as a decision-ready open-source alternative for customer support and product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docs/01-PRD.md §1.3 Differentiation; §8 Risks; README.md §1 Vision.</a:t>
            </a:r>
          </a:p>
          <a:p xmlns:a="http://schemas.openxmlformats.org/drawingml/2006/main">
            <a:r>
              <a:t>Visible claims are synthesized from the repository PRD and README, not third-party market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docs/01-PRD.md §2 Target users; §4 Commercial goals; README.md §6 Quick Start.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README.md §2 Product Matrix; docs/04-MODULES.md Module overview; docs/02-FEATURES.md Support Platform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docs/02-FEATURES.md §1.2 Channels; README.md §2 Product Matrix; docs/14-MULTIMODAL.md for multimodal channel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docs/11-RAG-KNOWLEDGE.md; docs/KB-DOCUMENT-PARSERS.md; packages/kb/config/kb-freshness.yaml; README.md §4.2 AI 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docs/09-AGENT-ENGINE.md; docs/10-AGENT-MEMORY.md; docs/11-RAG-KNOWLEDGE.md; packages/llm/src provider abstractions referenced in docs/04-MODULES.md.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docs/13-WORKFLOW.md; docs/02-FEATURES.md §1.5 Workflows; README.md Product Matrix.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README.md §3 Tech Stack and §6 Quick Start; docs/03-ARCHITECTURE.md; docs/06-TECH-STACK.md; docs/12-STORAGE-ABSTRACTION.md.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docs/01-PRD.md §4 Commercial goals; docs/08-ROADMAP.md Timeline and Phase definitions; README.md §7 Roadmap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f004565dc42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56b302709b4185" /><Relationship Type="http://schemas.openxmlformats.org/officeDocument/2006/relationships/slideLayout" Target="/ppt/slideLayouts/slideLayout1.xml" Id="R9fc5fb2e8f7343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c5fb2e8f7343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1d89d31764268" /><Relationship Type="http://schemas.openxmlformats.org/officeDocument/2006/relationships/notesSlide" Target="/ppt/notesSlides/notesSlide1.xml" Id="Rcfb747a93e6841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263026bdc448c" /><Relationship Type="http://schemas.openxmlformats.org/officeDocument/2006/relationships/notesSlide" Target="/ppt/notesSlides/notesSlide2.xml" Id="R21c68e871cb042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ee85eaffe4749" /><Relationship Type="http://schemas.openxmlformats.org/officeDocument/2006/relationships/notesSlide" Target="/ppt/notesSlides/notesSlide3.xml" Id="R81046bb65fa54e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bda890ecb4885" /><Relationship Type="http://schemas.openxmlformats.org/officeDocument/2006/relationships/notesSlide" Target="/ppt/notesSlides/notesSlide4.xml" Id="Ra204629dc0c84c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03071da89416b" /><Relationship Type="http://schemas.openxmlformats.org/officeDocument/2006/relationships/notesSlide" Target="/ppt/notesSlides/notesSlide5.xml" Id="Reeb8fbbfc63e4c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da08276914a51" /><Relationship Type="http://schemas.openxmlformats.org/officeDocument/2006/relationships/notesSlide" Target="/ppt/notesSlides/notesSlide6.xml" Id="Re24373ae6eaf41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ea9ed2c434621" /><Relationship Type="http://schemas.openxmlformats.org/officeDocument/2006/relationships/notesSlide" Target="/ppt/notesSlides/notesSlide7.xml" Id="Rf2c598a1859a4e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85fc71c2c46b3" /><Relationship Type="http://schemas.openxmlformats.org/officeDocument/2006/relationships/notesSlide" Target="/ppt/notesSlides/notesSlide8.xml" Id="R6d514653c2cf48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0d5aa0e8046c8" /><Relationship Type="http://schemas.openxmlformats.org/officeDocument/2006/relationships/notesSlide" Target="/ppt/notesSlides/notesSlide9.xml" Id="Rce7f5b25a6ab40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6079ab3574b99" /><Relationship Type="http://schemas.openxmlformats.org/officeDocument/2006/relationships/notesSlide" Target="/ppt/notesSlides/notesSlide10.xml" Id="Re1d5895076a54b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F556E-D550-4D2E-BAD3-B83C0481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KeenAI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CC645-7463-47D2-B551-EF41DD2B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981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开源、AI 原生、可私有化部署的客户支持与产品反馈平台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12B77-55C2-4F71-8067-DE2D99D6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替代 Intercom / Zendesk / Featurebase / Canny，把多渠道客服、知识库、AI Agent、Workflow、工单和反馈闭环放进一个系统。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7A8E0-C534-4827-8B5E-6DBE96E6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BP | 10 pages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C1F11-C6F2-426A-B333-003376EB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260485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C4ADE-F545-47B3-AEAF-BDDA9C0F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真实企业痛点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0B8F0-E5D5-42F1-9EC0-9D9BF3EE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企业客服与反馈系统的真实痛点，不是缺一个聊天窗口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73C27-AB74-41C4-8405-9B5437D7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98CA5-0F26-4167-BC3F-BCA364BE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476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1B463-AD0E-40BB-8686-763AD172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305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成本持续上升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71F79-8996-4B48-AAEB-552173BB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30575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SaaS 工具按 seat、AI resolution、用量叠加收费；中小团队在增长前就承担企业级成本。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90577-B98F-498A-976C-6461DED7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52650"/>
            <a:ext cx="3476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59D82-9402-4DE9-BBA4-582B9396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43150"/>
            <a:ext cx="305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数据和 AI 不可控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2BEFC-CCCD-431C-B3BE-863B4EF7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00350"/>
            <a:ext cx="30575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客户对话、工单、知识库和反馈沉在第三方平台；模型黑盒，合规和私有化困难。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5DA3B-7AA8-41AB-BE43-AE148378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3476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978F6-5528-4E9A-821C-747740EE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305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工具割裂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DAA77-561A-41B6-B3C1-E7745175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30575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客服、邮件、Discord、工单、反馈、路线图、知识库分别在不同工具里，闭环依赖人工搬运。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6E094-404F-4A69-BB0C-D0FA5C54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521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EDDF5-6EA6-4190-B4B4-2F6587EE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流程无法规模化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496E1-D349-443A-8BC8-75422AF6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0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高价值客户优先级、SLA、Bug 分流、功能需求归并、客服交接都依赖经验，漏单和重复劳动频繁发生。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80473-5B10-499F-8B55-ED045DDE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521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7C36B-6FDA-4F7C-A92C-624FA2DD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624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KeenAI 的切入点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F29A4-F9CC-47D3-B087-1AABB1E0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19650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用可控 AI + 自动化流程 + 多端入口统一解决支持和反馈闭环，而不是再增加一个单点工具。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95CA1-52CB-4DCD-843E-33FEEC08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59291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FC25A-4A89-4F40-BCE9-D59452FE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目标客户画像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E0C3E-B631-4552-B289-0F49B0FD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目标客户集中在需要低成本、可控 AI 和私有化的团队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A776E-FC1D-4584-A56B-95B5B649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C5397-6C5B-4E14-B084-D7A9FA93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476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8C59A-2E28-4293-8CD0-7EE11A83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305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SaaS 创业团队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B9B83-C4D7-4516-B99A-16C4B594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3057525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5-50 人；月活 1k-100k。</a:t>
            </a:r>
          </a:p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痛点：Intercom 成本高，Zendesk 太重，反馈闭环弱。</a:t>
            </a:r>
          </a:p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购买动机：低成本客服、AI 首响、反馈和路线图一体化。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06B97-306B-426E-8B5C-68C42235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52650"/>
            <a:ext cx="3476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35F8B-BC98-4D18-9A8A-8D75EC85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43150"/>
            <a:ext cx="305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独立开发者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CC03E-9763-4AAE-AA9D-2C03395A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00350"/>
            <a:ext cx="3057525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1-5 人维护多个产品。</a:t>
            </a:r>
          </a:p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痛点：没有专职客服，重复问题消耗开发时间。</a:t>
            </a:r>
          </a:p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购买动机：一键部署、AI 7x24 回复、用户反馈沉淀。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0E7B7-157D-4942-831A-7F96C78A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3476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9A770-6CE9-4ACC-9E53-FFE59AC3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305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企业内部 IT / DevTool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C51A5-A8FE-4701-87B4-29C55E3B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3057525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100-10000 员工。</a:t>
            </a:r>
          </a:p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痛点：数据不能出内网，内部服务台响应慢。</a:t>
            </a:r>
          </a:p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购买动机：私有化、SSO、审计、本地模型、流程自动化。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B4374-23B2-48BC-B04E-D6B3AD04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共同需求：把客户入口、知识、AI、工单和反馈沉淀在企业自己可控的系统里。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946C1-D104-4A32-9594-6D59418E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65350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B9A8E4-6255-4394-B21D-CB2BF72C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解决方案总览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6A25F-09B0-475D-8D88-258CA56E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KeenAI 把支持、反馈和产品更新组织成一个闭环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E6FC3-AF9C-472D-939A-1A634DD2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F1035-43EE-41E8-8B85-35130AD7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DBA84-7718-47D5-B500-94DD40AB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多端入口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E1375-064C-4B15-AD21-483C225B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8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Widget / Email / Discord / Slack / Telegram /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27BFD-189D-40D3-ACE3-D33AEDC4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38500"/>
            <a:ext cx="8001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F4745-5755-4BAD-911C-C896E512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53211-0C45-4D1E-AAD2-8F006C34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146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 Inbox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1EA10-A82D-4A94-A474-5E127C1B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7185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8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对话、客户、标签、SLA、工单上下文集中处理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DAD4D-083E-4029-B936-87B2EBE5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38500"/>
            <a:ext cx="8001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3F3CC-F7D7-4D22-862F-0F040A09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241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DE19D-2D7D-4718-B9F7-EAC28BDF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146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+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B09F0-4DFB-4F91-88EE-7B1FE1BB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7185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8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Keeni AI Agent 判断、回答、执行；Workflow 触发和编排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A3C45-B61A-4E9F-B146-C022CBE1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38500"/>
            <a:ext cx="8001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6F3D6-12D0-44BE-9643-FE80F87D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24150"/>
            <a:ext cx="1447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9F3D5-DAE4-4445-B8EA-35710D92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14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7D3E7-0AA4-4653-B82D-4C42F591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71850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80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Tickets / Feedback / Roadmap / Changelog / Help Center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B8F6C8-258E-4DDC-8AE0-F605F580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911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结果：更少人工重复处理，更快首响，更稳定服务质量，更完整的产品反馈沉淀。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A0BDE-FE03-4226-97FD-7EDB6184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411330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8BD0E-6553-410E-BDBB-687DED01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多渠道入口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AE1DB-F713-4A09-833E-AF466456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多端接入让客户在哪里提问，企业就在哪里响应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3F5EA-3F09-48F7-AD85-845EBD4F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140DD-7E38-489F-AD51-8915804F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1981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ED1CC-B693-4A7B-A74E-0DA57535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6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Messenger Widget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49512-A7B1-4946-8BAB-E3F4D5B3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562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嵌入官网和产品内，承接访客、登录用户和自助服务入口。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FE814-4F7C-4647-BC88-BA1EFBC7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14550"/>
            <a:ext cx="1981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CE864-B05F-409A-9AC5-D4F878F2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Email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DC2D1-0D53-4F76-999B-F568C2D5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62250"/>
            <a:ext cx="1562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support@ 邮件自动归并线程，转 Conversation 或 Ticket。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3E899-7E83-42F7-9855-0EE458B5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14550"/>
            <a:ext cx="1981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F331D-6ED3-46D5-A2AB-8005625C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05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91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Discord / Slack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F8C55-9C6A-489D-8303-15E9267E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62250"/>
            <a:ext cx="1562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面向社区、开发者客户和内部协作场景的即时支持。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1CB02-0042-4DFD-AE4D-56DC2A9E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14550"/>
            <a:ext cx="1981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31585-3C11-494C-84BD-103317DF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05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86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Telegram / WhatsApp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653B8-BDB5-4A26-9119-A28004DE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62250"/>
            <a:ext cx="1562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覆盖移动优先和国际化支持场景，后续扩展微信、LINE。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EE369-6166-4C2D-BBA2-2B32CB1D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14550"/>
            <a:ext cx="1981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097B7-8299-4CB5-BB13-14BA68CD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05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API / Webhook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76AF5-7246-4155-AAF7-B7288F70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62250"/>
            <a:ext cx="1562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业务系统、工单系统、CRM 和自定义工具可直接接入。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3F39C-6EC0-40E3-A72A-155DEFE1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05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所有入口统一进入同一套客户上下文、AI 判断、知识库检索、Workflow 分派和数据分析。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02243-FB56-4B0B-8295-75F5D108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507596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382BB-680A-47E4-B8E8-A873D819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Knowledge Base /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AB2A7-6B29-4755-96D6-06FB153B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知识库是 AI 可控回答的事实层，而不是附属文档库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815D9-0701-475D-8087-7BD0CC25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A3742-C227-4FCD-BD7A-F77F06D7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8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KeenAI 将 Help Center、产品文档、FAQ、历史工单、反馈和外部文档同步成可检索知识层。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076D3-719D-440B-AF61-20629CBD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31C69-CB6F-44D6-BAC9-A45BD131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958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3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多来源同步：Help Center、Markdown、网页、GitHub、Intercom / Zendesk 导入、Roadmap 数据。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A48B0-1B09-4054-97A9-420E63BA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DAA78-6841-4C26-A8F4-018E25A3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958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混合检索：全文搜索 + 向量召回 + rerank，兼顾关键词精确匹配和语义理解。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886C7-DFD1-4A75-BF43-C2F0E886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B736D-40CD-4299-A483-04AB770A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958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可追溯答案：Agent 输出时附来源链接，降低幻觉和错误承诺风险。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F8250-0F86-4A49-8125-010064FA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05600-5EAE-45AD-80E7-F3E85465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958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知识生命周期：版本、更新、过期、置信度和评测样本用于持续提升回答质量。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0C467-D62E-4843-BDD8-A5148099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5AD98-9445-4ADD-9CA1-5F0E8779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958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企业私有化：知识、向量和查询日志可全部留在企业自己的数据库和对象存储中。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1CD358-D93E-4A63-BD0A-974E0578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095688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803BF-232A-43FE-9945-E33AE7F2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Keeni AI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7735B-E033-436F-BA45-57A044AA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Keeni AI Agent 负责理解、回答、执行和升级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2224F-1E90-453B-A9ED-56DC695E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B0815-013B-4EC7-8A17-8D7793A9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C772D-6F72-4FBC-BEA7-D014CA5D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理解客户意图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FB830-3217-4213-B412-10AB46CD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识别咨询、Bug、账单、退款、功能请求、账号问题和情绪风险。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5C75E-5D82-4238-90AA-C174F3AA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4A4E6-A485-473A-850E-C0BBB8B7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检索可信答案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27451-44F3-4253-9414-39A47C95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003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优先调用知识库和历史解决方案，通过 RAG 生成带来源的回复。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01F8A2-83FF-4FEA-901C-D4496206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18324-4255-48D9-89D8-202BE410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执行客服动作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0351B-7172-4C2E-9C16-D452F954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9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创建 Ticket、打标签、查业务系统、推荐文档、订阅反馈、生成草稿。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01BF1-178E-400A-9BAB-A799CC4D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5265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25971-587B-4785-9256-45326D3E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431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升级人工兜底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C0958-ADAC-4832-A059-FE6358B1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003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低置信度、负面情绪、合规/退款等场景转人工，并交付摘要和建议。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A4B65-53EF-46CB-8F6C-EC51E4DE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8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企业价值：把重复首响和资料查询交给 AI，把复杂判断和关系维护留给人工。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B581B-2A4E-494A-8C1A-8874DE77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支持 OpenAI / Anthropic / Gemini / DeepSeek / Kimi / Ollama，本地模型可用于私有化和离线部署。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5E953-121A-43EE-B97B-8A5C22D6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50622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EF517-E179-4F59-922B-F41BFEB7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Workflow 自动化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0CAE7-C1FF-4B18-BA08-E9CD0E14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 把客服处理经验变成可配置、可追踪的自动化流程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12A06-B07D-440B-B7E4-CBE28987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E2469-D8DC-4191-9565-C952CACF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615A6-F1F6-4026-8B9A-AE5A12D1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Trigger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57DBD-528C-4675-B86F-3714EE02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客户发起对话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邮件进入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Discord 提问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Ticket 状态变化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客户超时未回复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098BC-8074-4AC9-807B-7F7EDE11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62300"/>
            <a:ext cx="10668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D9A04-E9D5-48A2-A051-30C08BD5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A4209-D9B5-4CE3-8059-1252351C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669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Condition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BFEC1-8D23-4D28-A52A-C4E5C3F2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4320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客户等级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渠道来源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工作时间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关键词/意图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置信度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是否已有工单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A97E2-B1CB-44C7-90D1-6C8FB6EA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62300"/>
            <a:ext cx="10668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5EDE3-CD26-425D-BAEC-25E21CAB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098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8721B-F675-43FE-8440-04E07416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CC2A0-1B64-4229-B292-6D910A21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43200"/>
            <a:ext cx="2476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让 AI 回答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分配团队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创建 Ticket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应用 SLA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发送通知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调用 API / MCP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01BEF-FC5B-47C0-9368-AEBE7268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7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典型流程：企业客户发起 Bug 反馈 -&gt; AI 判断类型 -&gt; 创建高优先级工单 -&gt; 分配工程支持 -&gt; 客户自动收到进度通知。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3B5B1-A680-421C-99A8-6991F42D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99202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CF86FE-A32F-4149-8602-48558549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技术架构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BB6C6-A4B6-48E0-8C5F-FCCEC59D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技术方案兼顾开箱自托管、企业扩展和 AI 可替换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E839A-E72A-4D8C-9653-6F5363E7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6AF23-D2F1-44AD-9BD7-C12C51DB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3476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65457-8DCF-4E63-97C2-67BFC6FB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305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前端与入口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53CF6-3024-401D-AEE2-9FCA83BE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3057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Next.js Dashboard / Portal / Help Center；Preact Widget；WebSocket / SSE 实时体验。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840CA-128A-418C-9BD7-ECACE6F4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57400"/>
            <a:ext cx="3476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36406-446D-4578-A8D5-9DD3A4A7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47900"/>
            <a:ext cx="305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服务与数据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A0EBA-9CBC-44B6-9045-F04E83DC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05100"/>
            <a:ext cx="3057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Hono + Bun / Node；Drizzle；PostgreSQL + pgvector 或 SQLite / LibSQL；S3 / MinIO 对象存储。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546DA-73DD-4422-AECB-FC064392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57400"/>
            <a:ext cx="3476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B7BC6-E55F-4417-A325-9EE6C89D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305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与自动化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B0A25-B4DB-4855-BE3E-316CD595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5100"/>
            <a:ext cx="3057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Vercel AI SDK；Mastra Agent；RAG；Memory；Inngest Workflow；BullMQ 队列。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1AE85-3196-4A68-BD73-B200D06B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96817-3837-4A6E-A3E0-2C479376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E9419-7B8E-460A-8003-5B651E05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单机 Docker / SQLite，适合 Indie、Demo 和低成本自托管。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ADDEF-7DE5-45A1-A12B-45514C45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719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E202A-D4DE-45FD-BD7D-CBA8FBC9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005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Standard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9ABCC-B021-4A3B-BC6C-9E032E94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482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PostgreSQL + Redis + MinIO，适合中小团队生产部署。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4CC27-B6F7-4CB2-BD69-BA8F59AE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E550A-6ACD-454D-85D0-7C597CC7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005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Cloud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D3191-50A4-4BC8-9B76-7C1B66BF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482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Vercel / Cloudflare / managed PG，适合托管 SaaS。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B619E-470D-45B0-851F-9EE7E436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71950"/>
            <a:ext cx="2247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70C08E-544D-4F76-A393-694F5A7D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005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Enterprise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E8D340-05C7-46D4-AB5D-BC96173E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482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私有化、SSO、审计、SLA、本地模型和内网集成。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12E6B1-244E-4F80-B166-AEEEB8CA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66578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E3CEFF-F4DD-4099-9A6F-8D5AF5FF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商业规划与里程碑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4E827-20AE-4705-BB5E-98521165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开源获客，云托管和企业私有化完成商业化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97FD4-901D-4265-B9B9-0CA20780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5BB63-F9E8-4A33-A908-F0AEEEBC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5238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8480F-FF93-480F-92C9-C18F1450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商业模式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E0CB3-41C4-4607-A909-6A6C092D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4819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自托管 AGPL 免费获取社区和企业线索；云托管按 seat / AI 用量收费；企业版提供私有化、SSO、审计和 SLA。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FB81B-81DD-4557-8031-8401B365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5238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0EF97-1F63-4E3D-BA6F-3B01A061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GTM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67A46-5E99-479F-A498-6A463CF4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4819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先抓开发者和 Indie Hacker，再进入中小 SaaS 团队，最后用私有化方案切企业内部 IT / DevTool。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53EB9-FBB8-483D-939B-F5ACC453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363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908B2-C6F1-4B76-B445-1CF8BF84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E0C23-02E7-4BEB-8B06-89CDFEFF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0-3M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F807D-81B1-44EC-A7A3-B3BDBD47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959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  <a:p xmlns:a="http://schemas.openxmlformats.org/drawingml/2006/main">
            <a:pPr algn="l">
              <a:def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Inbox / Widget / Email / Copilot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D6135-9BEE-4D4A-A0F8-FB45DD9B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72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50670-6667-42F2-8E1E-8DD4A052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53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3-6M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03C14-247E-4638-B0C9-B14419CD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959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核心闭环</a:t>
            </a:r>
          </a:p>
          <a:p xmlns:a="http://schemas.openxmlformats.org/drawingml/2006/main">
            <a:pPr algn="l">
              <a:def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Tickets / Workflow / Feedback / Help Center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624A7-BBC9-4848-87D9-A9B137AE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72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06D41-C234-4442-98CA-683C2A72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53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6-9M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B5EA5-748C-4C85-9611-D288795C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959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AI 完整版</a:t>
            </a:r>
          </a:p>
          <a:p xmlns:a="http://schemas.openxmlformats.org/drawingml/2006/main">
            <a:pPr algn="l">
              <a:def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Agent / Memory / RAG / Roadmap / Changelog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463242-A905-471E-B37E-099F3B52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72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230DA-E58A-49CA-9903-604AEF42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9-12M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16808C-6091-4C76-98B2-9AAA42C6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959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商业化</a:t>
            </a:r>
          </a:p>
          <a:p xmlns:a="http://schemas.openxmlformats.org/drawingml/2006/main">
            <a:pPr algn="l">
              <a:def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Enterprise / Cloud / Plugin ecosystem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E2354-FB8A-47DB-9C34-20B4AAD3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65C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83394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2026-07-26T04:26:51.3640000Z</dcterms:created>
  <dcterms:modified xsi:type="dcterms:W3CDTF">2026-07-26T04:26:51.3640000Z</dcterms:modified>
</coreProperties>
</file>